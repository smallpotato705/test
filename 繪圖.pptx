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8"/>
  </p:notesMasterIdLst>
  <p:sldIdLst>
    <p:sldId id="518" r:id="rId2"/>
    <p:sldId id="520" r:id="rId3"/>
    <p:sldId id="532" r:id="rId4"/>
    <p:sldId id="519" r:id="rId5"/>
    <p:sldId id="533" r:id="rId6"/>
    <p:sldId id="534" r:id="rId7"/>
    <p:sldId id="535" r:id="rId8"/>
    <p:sldId id="539" r:id="rId9"/>
    <p:sldId id="540" r:id="rId10"/>
    <p:sldId id="541" r:id="rId11"/>
    <p:sldId id="542" r:id="rId12"/>
    <p:sldId id="536" r:id="rId13"/>
    <p:sldId id="537" r:id="rId14"/>
    <p:sldId id="545" r:id="rId15"/>
    <p:sldId id="544" r:id="rId16"/>
    <p:sldId id="543" r:id="rId17"/>
  </p:sldIdLst>
  <p:sldSz cx="12192000" cy="6858000"/>
  <p:notesSz cx="6797675" cy="98742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AD3DD4C-D69C-4BF6-98DE-5813E15EEDA6}">
          <p14:sldIdLst>
            <p14:sldId id="518"/>
            <p14:sldId id="520"/>
            <p14:sldId id="532"/>
            <p14:sldId id="519"/>
            <p14:sldId id="533"/>
            <p14:sldId id="534"/>
            <p14:sldId id="535"/>
            <p14:sldId id="539"/>
            <p14:sldId id="540"/>
            <p14:sldId id="541"/>
            <p14:sldId id="542"/>
            <p14:sldId id="536"/>
            <p14:sldId id="537"/>
            <p14:sldId id="545"/>
            <p14:sldId id="544"/>
            <p14:sldId id="5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4B183"/>
    <a:srgbClr val="00B0F0"/>
    <a:srgbClr val="FF0000"/>
    <a:srgbClr val="C00000"/>
    <a:srgbClr val="FFC000"/>
    <a:srgbClr val="9F7800"/>
    <a:srgbClr val="92D050"/>
    <a:srgbClr val="00B050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424" autoAdjust="0"/>
  </p:normalViewPr>
  <p:slideViewPr>
    <p:cSldViewPr snapToGrid="0">
      <p:cViewPr>
        <p:scale>
          <a:sx n="100" d="100"/>
          <a:sy n="100" d="100"/>
        </p:scale>
        <p:origin x="936" y="4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54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54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6CA7D-1491-44CC-8095-7529C3F5D140}" type="datetimeFigureOut">
              <a:rPr lang="zh-TW" altLang="en-US" smtClean="0"/>
              <a:t>2019/8/21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5075"/>
            <a:ext cx="5924550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51982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378825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4" y="9378825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3070D-5EC0-461F-93D2-8F1858C96D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007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" y="2"/>
            <a:ext cx="12189391" cy="6861905"/>
          </a:xfrm>
          <a:prstGeom prst="rect">
            <a:avLst/>
          </a:prstGeom>
        </p:spPr>
      </p:pic>
      <p:sp>
        <p:nvSpPr>
          <p:cNvPr id="30723" name="Rectangle 3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4368800" y="3976302"/>
            <a:ext cx="7518400" cy="1846660"/>
          </a:xfrm>
        </p:spPr>
        <p:txBody>
          <a:bodyPr anchor="ctr"/>
          <a:lstStyle>
            <a:lvl1pPr>
              <a:defRPr sz="3733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zh-TW" dirty="0"/>
              <a:t>Present’s Name</a:t>
            </a:r>
            <a:br>
              <a:rPr lang="en-US" altLang="zh-TW" dirty="0"/>
            </a:br>
            <a:r>
              <a:rPr lang="en-US" altLang="zh-TW" dirty="0"/>
              <a:t>Present’s Title</a:t>
            </a:r>
            <a:br>
              <a:rPr lang="en-US" altLang="zh-TW" dirty="0"/>
            </a:br>
            <a:r>
              <a:rPr lang="en-US" altLang="zh-TW" dirty="0"/>
              <a:t>Date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1" y="297715"/>
            <a:ext cx="1774153" cy="3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5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17600" y="1228299"/>
            <a:ext cx="10566400" cy="4897865"/>
          </a:xfrm>
        </p:spPr>
        <p:txBody>
          <a:bodyPr/>
          <a:lstStyle>
            <a:lvl1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1117600" y="279401"/>
            <a:ext cx="10566400" cy="7078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5892800" y="6477000"/>
            <a:ext cx="711200" cy="381000"/>
          </a:xfrm>
        </p:spPr>
        <p:txBody>
          <a:bodyPr/>
          <a:lstStyle>
            <a:lvl1pPr>
              <a:defRPr/>
            </a:lvl1pPr>
          </a:lstStyle>
          <a:p>
            <a:fld id="{72EE2FBA-ACE2-4C23-9D6E-8AD0CD7FDE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747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17600" y="4406901"/>
            <a:ext cx="10363200" cy="943848"/>
          </a:xfrm>
        </p:spPr>
        <p:txBody>
          <a:bodyPr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117600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11582402" y="6507163"/>
            <a:ext cx="488951" cy="381000"/>
          </a:xfrm>
        </p:spPr>
        <p:txBody>
          <a:bodyPr/>
          <a:lstStyle>
            <a:lvl1pPr>
              <a:defRPr/>
            </a:lvl1pPr>
          </a:lstStyle>
          <a:p>
            <a:fld id="{72EE2FBA-ACE2-4C23-9D6E-8AD0CD7FDE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0330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117600" y="1600201"/>
            <a:ext cx="50800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600201"/>
            <a:ext cx="51816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11582402" y="6507163"/>
            <a:ext cx="488951" cy="381000"/>
          </a:xfrm>
        </p:spPr>
        <p:txBody>
          <a:bodyPr/>
          <a:lstStyle>
            <a:lvl1pPr>
              <a:defRPr/>
            </a:lvl1pPr>
          </a:lstStyle>
          <a:p>
            <a:fld id="{72EE2FBA-ACE2-4C23-9D6E-8AD0CD7FDE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97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17600" y="274638"/>
            <a:ext cx="10464800" cy="830997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117600" y="1535113"/>
            <a:ext cx="5080000" cy="639763"/>
          </a:xfrm>
        </p:spPr>
        <p:txBody>
          <a:bodyPr anchor="b"/>
          <a:lstStyle>
            <a:lvl1pPr marL="0" indent="0">
              <a:buNone/>
              <a:defRPr sz="29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117600" y="2174875"/>
            <a:ext cx="5080000" cy="3951288"/>
          </a:xfrm>
        </p:spPr>
        <p:txBody>
          <a:bodyPr/>
          <a:lstStyle>
            <a:lvl1pPr>
              <a:defRPr sz="2933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294968" y="1535113"/>
            <a:ext cx="5287433" cy="639763"/>
          </a:xfrm>
        </p:spPr>
        <p:txBody>
          <a:bodyPr anchor="b"/>
          <a:lstStyle>
            <a:lvl1pPr marL="0" indent="0">
              <a:buNone/>
              <a:defRPr sz="29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294968" y="2174875"/>
            <a:ext cx="5287433" cy="3951288"/>
          </a:xfrm>
        </p:spPr>
        <p:txBody>
          <a:bodyPr/>
          <a:lstStyle>
            <a:lvl1pPr>
              <a:defRPr sz="2933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>
          <a:xfrm>
            <a:off x="11582402" y="6507163"/>
            <a:ext cx="488951" cy="381000"/>
          </a:xfrm>
        </p:spPr>
        <p:txBody>
          <a:bodyPr/>
          <a:lstStyle>
            <a:lvl1pPr>
              <a:defRPr/>
            </a:lvl1pPr>
          </a:lstStyle>
          <a:p>
            <a:fld id="{72EE2FBA-ACE2-4C23-9D6E-8AD0CD7FDE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148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11582402" y="6507163"/>
            <a:ext cx="488951" cy="381000"/>
          </a:xfrm>
        </p:spPr>
        <p:txBody>
          <a:bodyPr/>
          <a:lstStyle>
            <a:lvl1pPr>
              <a:defRPr/>
            </a:lvl1pPr>
          </a:lstStyle>
          <a:p>
            <a:fld id="{72EE2FBA-ACE2-4C23-9D6E-8AD0CD7FDE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796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>
          <a:xfrm>
            <a:off x="11582402" y="6507163"/>
            <a:ext cx="488951" cy="381000"/>
          </a:xfrm>
        </p:spPr>
        <p:txBody>
          <a:bodyPr/>
          <a:lstStyle>
            <a:lvl1pPr>
              <a:defRPr/>
            </a:lvl1pPr>
          </a:lstStyle>
          <a:p>
            <a:fld id="{72EE2FBA-ACE2-4C23-9D6E-8AD0CD7FDE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471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17602" y="491252"/>
            <a:ext cx="3503084" cy="94384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17602" y="1435102"/>
            <a:ext cx="3503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11582402" y="6507163"/>
            <a:ext cx="488951" cy="381000"/>
          </a:xfrm>
        </p:spPr>
        <p:txBody>
          <a:bodyPr/>
          <a:lstStyle>
            <a:lvl1pPr>
              <a:defRPr/>
            </a:lvl1pPr>
          </a:lstStyle>
          <a:p>
            <a:fld id="{72EE2FBA-ACE2-4C23-9D6E-8AD0CD7FDE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5717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>
          <a:xfrm>
            <a:off x="11582402" y="6507163"/>
            <a:ext cx="488951" cy="381000"/>
          </a:xfrm>
        </p:spPr>
        <p:txBody>
          <a:bodyPr/>
          <a:lstStyle>
            <a:lvl1pPr>
              <a:defRPr/>
            </a:lvl1pPr>
          </a:lstStyle>
          <a:p>
            <a:fld id="{72EE2FBA-ACE2-4C23-9D6E-8AD0CD7FDE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86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11582402" y="6507163"/>
            <a:ext cx="488951" cy="381000"/>
          </a:xfrm>
        </p:spPr>
        <p:txBody>
          <a:bodyPr/>
          <a:lstStyle>
            <a:lvl1pPr>
              <a:defRPr/>
            </a:lvl1pPr>
          </a:lstStyle>
          <a:p>
            <a:fld id="{72EE2FBA-ACE2-4C23-9D6E-8AD0CD7FDE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2761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920408" y="228601"/>
            <a:ext cx="1661993" cy="58975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17600" y="228601"/>
            <a:ext cx="7569200" cy="58975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11582402" y="6507163"/>
            <a:ext cx="488951" cy="381000"/>
          </a:xfrm>
        </p:spPr>
        <p:txBody>
          <a:bodyPr/>
          <a:lstStyle>
            <a:lvl1pPr>
              <a:defRPr/>
            </a:lvl1pPr>
          </a:lstStyle>
          <a:p>
            <a:fld id="{72EE2FBA-ACE2-4C23-9D6E-8AD0CD7FDE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962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0"/>
            <a:ext cx="12191997" cy="6859628"/>
          </a:xfrm>
          <a:prstGeom prst="rect">
            <a:avLst/>
          </a:prstGeom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117600" y="177801"/>
            <a:ext cx="10464800" cy="86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600201"/>
            <a:ext cx="10464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 dirty="0"/>
          </a:p>
        </p:txBody>
      </p:sp>
      <p:sp>
        <p:nvSpPr>
          <p:cNvPr id="29717" name="Rectangle 2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38799" y="6500283"/>
            <a:ext cx="914400" cy="383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333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ea typeface="新細明體" charset="-120"/>
              </a:defRPr>
            </a:lvl1pPr>
          </a:lstStyle>
          <a:p>
            <a:fld id="{72EE2FBA-ACE2-4C23-9D6E-8AD0CD7FDE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468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 baseline="0">
          <a:solidFill>
            <a:srgbClr val="333333"/>
          </a:solidFill>
          <a:latin typeface="+mj-lt"/>
          <a:ea typeface="微軟正黑體" panose="020B0604030504040204" pitchFamily="34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333333"/>
          </a:solidFill>
          <a:latin typeface="Arial" charset="0"/>
          <a:ea typeface="新細明體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333333"/>
          </a:solidFill>
          <a:latin typeface="Arial" charset="0"/>
          <a:ea typeface="新細明體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333333"/>
          </a:solidFill>
          <a:latin typeface="Arial" charset="0"/>
          <a:ea typeface="新細明體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rgbClr val="333333"/>
          </a:solidFill>
          <a:latin typeface="Arial" charset="0"/>
          <a:ea typeface="新細明體" charset="-12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kumimoji="1" sz="4267">
          <a:solidFill>
            <a:srgbClr val="333333"/>
          </a:solidFill>
          <a:latin typeface="Arial" charset="0"/>
          <a:ea typeface="新細明體" charset="-12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kumimoji="1" sz="4267">
          <a:solidFill>
            <a:srgbClr val="333333"/>
          </a:solidFill>
          <a:latin typeface="Arial" charset="0"/>
          <a:ea typeface="新細明體" charset="-12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kumimoji="1" sz="4267">
          <a:solidFill>
            <a:srgbClr val="333333"/>
          </a:solidFill>
          <a:latin typeface="Arial" charset="0"/>
          <a:ea typeface="新細明體" charset="-12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kumimoji="1" sz="4267">
          <a:solidFill>
            <a:srgbClr val="333333"/>
          </a:solidFill>
          <a:latin typeface="Arial" charset="0"/>
          <a:ea typeface="新細明體" charset="-120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har char="•"/>
        <a:defRPr kumimoji="1" sz="4000" baseline="0">
          <a:solidFill>
            <a:srgbClr val="4D4D4D"/>
          </a:solidFill>
          <a:latin typeface="+mn-lt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har char="–"/>
        <a:defRPr kumimoji="1" sz="3467" baseline="0">
          <a:solidFill>
            <a:srgbClr val="4D4D4D"/>
          </a:solidFill>
          <a:latin typeface="+mn-lt"/>
          <a:ea typeface="+mn-ea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har char="•"/>
        <a:defRPr kumimoji="1" sz="2933" baseline="0">
          <a:solidFill>
            <a:srgbClr val="4D4D4D"/>
          </a:solidFill>
          <a:latin typeface="+mn-lt"/>
          <a:ea typeface="+mn-ea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har char="–"/>
        <a:defRPr kumimoji="1" sz="2667" baseline="0">
          <a:solidFill>
            <a:srgbClr val="4D4D4D"/>
          </a:solidFill>
          <a:latin typeface="+mn-lt"/>
          <a:ea typeface="+mn-ea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har char="»"/>
        <a:defRPr kumimoji="1" sz="2667" baseline="0">
          <a:solidFill>
            <a:srgbClr val="4D4D4D"/>
          </a:solidFill>
          <a:latin typeface="+mn-lt"/>
          <a:ea typeface="+mn-ea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rgbClr val="4D4D4D"/>
          </a:solidFill>
          <a:latin typeface="+mn-lt"/>
          <a:ea typeface="+mn-ea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rgbClr val="4D4D4D"/>
          </a:solidFill>
          <a:latin typeface="+mn-lt"/>
          <a:ea typeface="+mn-ea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rgbClr val="4D4D4D"/>
          </a:solidFill>
          <a:latin typeface="+mn-lt"/>
          <a:ea typeface="+mn-ea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rgbClr val="4D4D4D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34" Type="http://schemas.openxmlformats.org/officeDocument/2006/relationships/image" Target="../media/image25.emf"/><Relationship Id="rId33" Type="http://schemas.openxmlformats.org/officeDocument/2006/relationships/image" Target="../media/image50.png"/><Relationship Id="rId38" Type="http://schemas.openxmlformats.org/officeDocument/2006/relationships/image" Target="../media/image26.emf"/><Relationship Id="rId2" Type="http://schemas.openxmlformats.org/officeDocument/2006/relationships/image" Target="../media/image23.emf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49.png"/><Relationship Id="rId37" Type="http://schemas.openxmlformats.org/officeDocument/2006/relationships/image" Target="../media/image53.png"/><Relationship Id="rId28" Type="http://schemas.openxmlformats.org/officeDocument/2006/relationships/image" Target="../media/image46.png"/><Relationship Id="rId36" Type="http://schemas.openxmlformats.org/officeDocument/2006/relationships/image" Target="../media/image52.png"/><Relationship Id="rId31" Type="http://schemas.openxmlformats.org/officeDocument/2006/relationships/image" Target="../media/image24.emf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34" Type="http://schemas.openxmlformats.org/officeDocument/2006/relationships/image" Target="../media/image25.emf"/><Relationship Id="rId7" Type="http://schemas.openxmlformats.org/officeDocument/2006/relationships/image" Target="../media/image24.emf"/><Relationship Id="rId33" Type="http://schemas.openxmlformats.org/officeDocument/2006/relationships/image" Target="../media/image50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32" Type="http://schemas.openxmlformats.org/officeDocument/2006/relationships/image" Target="../media/image49.png"/><Relationship Id="rId37" Type="http://schemas.openxmlformats.org/officeDocument/2006/relationships/image" Target="../media/image32.png"/><Relationship Id="rId5" Type="http://schemas.openxmlformats.org/officeDocument/2006/relationships/image" Target="../media/image28.png"/><Relationship Id="rId36" Type="http://schemas.openxmlformats.org/officeDocument/2006/relationships/image" Target="../media/image31.png"/><Relationship Id="rId4" Type="http://schemas.openxmlformats.org/officeDocument/2006/relationships/image" Target="../media/image27.png"/><Relationship Id="rId35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單箭頭接點 5"/>
          <p:cNvCxnSpPr/>
          <p:nvPr/>
        </p:nvCxnSpPr>
        <p:spPr bwMode="auto">
          <a:xfrm>
            <a:off x="518747" y="5257800"/>
            <a:ext cx="4615961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直線單箭頭接點 7"/>
          <p:cNvCxnSpPr/>
          <p:nvPr/>
        </p:nvCxnSpPr>
        <p:spPr bwMode="auto">
          <a:xfrm flipH="1" flipV="1">
            <a:off x="518747" y="1371600"/>
            <a:ext cx="8792" cy="39037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橢圓 8"/>
          <p:cNvSpPr/>
          <p:nvPr/>
        </p:nvSpPr>
        <p:spPr bwMode="auto">
          <a:xfrm>
            <a:off x="2645021" y="4392051"/>
            <a:ext cx="386861" cy="38686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6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0" name="橢圓 9"/>
          <p:cNvSpPr/>
          <p:nvPr/>
        </p:nvSpPr>
        <p:spPr bwMode="auto">
          <a:xfrm>
            <a:off x="4229100" y="4686303"/>
            <a:ext cx="386861" cy="38686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7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1" name="橢圓 10"/>
          <p:cNvSpPr/>
          <p:nvPr/>
        </p:nvSpPr>
        <p:spPr bwMode="auto">
          <a:xfrm>
            <a:off x="3120356" y="2587869"/>
            <a:ext cx="386861" cy="38686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8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2" name="橢圓 11"/>
          <p:cNvSpPr/>
          <p:nvPr/>
        </p:nvSpPr>
        <p:spPr bwMode="auto">
          <a:xfrm>
            <a:off x="3176223" y="3917329"/>
            <a:ext cx="386861" cy="38686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9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3" name="橢圓 12"/>
          <p:cNvSpPr/>
          <p:nvPr/>
        </p:nvSpPr>
        <p:spPr bwMode="auto">
          <a:xfrm>
            <a:off x="1482311" y="3388937"/>
            <a:ext cx="392723" cy="361949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新細明體" charset="-120"/>
              </a:rPr>
              <a:t>1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4" name="橢圓 13"/>
          <p:cNvSpPr/>
          <p:nvPr/>
        </p:nvSpPr>
        <p:spPr bwMode="auto">
          <a:xfrm>
            <a:off x="539172" y="3633393"/>
            <a:ext cx="392723" cy="361949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3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5" name="橢圓 14"/>
          <p:cNvSpPr/>
          <p:nvPr/>
        </p:nvSpPr>
        <p:spPr bwMode="auto">
          <a:xfrm>
            <a:off x="1840433" y="2699559"/>
            <a:ext cx="392723" cy="361949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2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6" name="橢圓 15"/>
          <p:cNvSpPr/>
          <p:nvPr/>
        </p:nvSpPr>
        <p:spPr bwMode="auto">
          <a:xfrm>
            <a:off x="1006718" y="4322271"/>
            <a:ext cx="392723" cy="361949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5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7" name="橢圓 16"/>
          <p:cNvSpPr/>
          <p:nvPr/>
        </p:nvSpPr>
        <p:spPr bwMode="auto">
          <a:xfrm>
            <a:off x="842964" y="2793756"/>
            <a:ext cx="392723" cy="361949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4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58765" y="1550181"/>
            <a:ext cx="1019908" cy="369332"/>
          </a:xfrm>
          <a:prstGeom prst="rect">
            <a:avLst/>
          </a:prstGeom>
          <a:solidFill>
            <a:srgbClr val="5B9BD5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58765" y="2031819"/>
            <a:ext cx="1019908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B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五角星形 21"/>
          <p:cNvSpPr/>
          <p:nvPr/>
        </p:nvSpPr>
        <p:spPr bwMode="auto">
          <a:xfrm>
            <a:off x="2420888" y="3388937"/>
            <a:ext cx="473319" cy="473319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23" name="橢圓 22"/>
          <p:cNvSpPr/>
          <p:nvPr/>
        </p:nvSpPr>
        <p:spPr bwMode="auto">
          <a:xfrm>
            <a:off x="1310054" y="2257600"/>
            <a:ext cx="2787161" cy="2787161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V="1">
            <a:off x="2789875" y="2974730"/>
            <a:ext cx="330481" cy="43354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29" name="文字方塊 28"/>
          <p:cNvSpPr txBox="1"/>
          <p:nvPr/>
        </p:nvSpPr>
        <p:spPr>
          <a:xfrm>
            <a:off x="2965886" y="3123592"/>
            <a:ext cx="11087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Warping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3648641" y="2155556"/>
            <a:ext cx="11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879084"/>
              </p:ext>
            </p:extLst>
          </p:nvPr>
        </p:nvGraphicFramePr>
        <p:xfrm>
          <a:off x="5317519" y="2031068"/>
          <a:ext cx="4508217" cy="324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0913">
                  <a:extLst>
                    <a:ext uri="{9D8B030D-6E8A-4147-A177-3AD203B41FA5}">
                      <a16:colId xmlns:a16="http://schemas.microsoft.com/office/drawing/2014/main" val="2473427622"/>
                    </a:ext>
                  </a:extLst>
                </a:gridCol>
                <a:gridCol w="500913">
                  <a:extLst>
                    <a:ext uri="{9D8B030D-6E8A-4147-A177-3AD203B41FA5}">
                      <a16:colId xmlns:a16="http://schemas.microsoft.com/office/drawing/2014/main" val="730421548"/>
                    </a:ext>
                  </a:extLst>
                </a:gridCol>
                <a:gridCol w="500913">
                  <a:extLst>
                    <a:ext uri="{9D8B030D-6E8A-4147-A177-3AD203B41FA5}">
                      <a16:colId xmlns:a16="http://schemas.microsoft.com/office/drawing/2014/main" val="2120939769"/>
                    </a:ext>
                  </a:extLst>
                </a:gridCol>
                <a:gridCol w="500913">
                  <a:extLst>
                    <a:ext uri="{9D8B030D-6E8A-4147-A177-3AD203B41FA5}">
                      <a16:colId xmlns:a16="http://schemas.microsoft.com/office/drawing/2014/main" val="3910732909"/>
                    </a:ext>
                  </a:extLst>
                </a:gridCol>
                <a:gridCol w="500913">
                  <a:extLst>
                    <a:ext uri="{9D8B030D-6E8A-4147-A177-3AD203B41FA5}">
                      <a16:colId xmlns:a16="http://schemas.microsoft.com/office/drawing/2014/main" val="2221906460"/>
                    </a:ext>
                  </a:extLst>
                </a:gridCol>
                <a:gridCol w="500913">
                  <a:extLst>
                    <a:ext uri="{9D8B030D-6E8A-4147-A177-3AD203B41FA5}">
                      <a16:colId xmlns:a16="http://schemas.microsoft.com/office/drawing/2014/main" val="3816754043"/>
                    </a:ext>
                  </a:extLst>
                </a:gridCol>
                <a:gridCol w="500913">
                  <a:extLst>
                    <a:ext uri="{9D8B030D-6E8A-4147-A177-3AD203B41FA5}">
                      <a16:colId xmlns:a16="http://schemas.microsoft.com/office/drawing/2014/main" val="3822202769"/>
                    </a:ext>
                  </a:extLst>
                </a:gridCol>
                <a:gridCol w="500913">
                  <a:extLst>
                    <a:ext uri="{9D8B030D-6E8A-4147-A177-3AD203B41FA5}">
                      <a16:colId xmlns:a16="http://schemas.microsoft.com/office/drawing/2014/main" val="1620875245"/>
                    </a:ext>
                  </a:extLst>
                </a:gridCol>
                <a:gridCol w="500913">
                  <a:extLst>
                    <a:ext uri="{9D8B030D-6E8A-4147-A177-3AD203B41FA5}">
                      <a16:colId xmlns:a16="http://schemas.microsoft.com/office/drawing/2014/main" val="4072847865"/>
                    </a:ext>
                  </a:extLst>
                </a:gridCol>
              </a:tblGrid>
              <a:tr h="359508">
                <a:tc gridSpan="2">
                  <a:txBody>
                    <a:bodyPr/>
                    <a:lstStyle/>
                    <a:p>
                      <a:pPr algn="ctr"/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lnL w="12700" cmpd="sng">
                      <a:noFill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>
                    <a:lnT w="12700" cmpd="sng">
                      <a:noFill/>
                    </a:lnT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1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/>
                </a:tc>
                <a:extLst>
                  <a:ext uri="{0D108BD9-81ED-4DB2-BD59-A6C34878D82A}">
                    <a16:rowId xmlns:a16="http://schemas.microsoft.com/office/drawing/2014/main" val="421158920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 algn="ctr"/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672366"/>
                  </a:ext>
                </a:extLst>
              </a:tr>
              <a:tr h="359508">
                <a:tc rowSpan="7"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2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vert="eaVert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extLst>
                  <a:ext uri="{0D108BD9-81ED-4DB2-BD59-A6C34878D82A}">
                    <a16:rowId xmlns:a16="http://schemas.microsoft.com/office/drawing/2014/main" val="1125413430"/>
                  </a:ext>
                </a:extLst>
              </a:tr>
              <a:tr h="359508">
                <a:tc v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extLst>
                  <a:ext uri="{0D108BD9-81ED-4DB2-BD59-A6C34878D82A}">
                    <a16:rowId xmlns:a16="http://schemas.microsoft.com/office/drawing/2014/main" val="1546569682"/>
                  </a:ext>
                </a:extLst>
              </a:tr>
              <a:tr h="359508">
                <a:tc v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extLst>
                  <a:ext uri="{0D108BD9-81ED-4DB2-BD59-A6C34878D82A}">
                    <a16:rowId xmlns:a16="http://schemas.microsoft.com/office/drawing/2014/main" val="3188449648"/>
                  </a:ext>
                </a:extLst>
              </a:tr>
              <a:tr h="359508">
                <a:tc vMerge="1">
                  <a:txBody>
                    <a:bodyPr/>
                    <a:lstStyle/>
                    <a:p>
                      <a:pPr algn="ctr"/>
                      <a:endParaRPr lang="zh-TW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extLst>
                  <a:ext uri="{0D108BD9-81ED-4DB2-BD59-A6C34878D82A}">
                    <a16:rowId xmlns:a16="http://schemas.microsoft.com/office/drawing/2014/main" val="832709543"/>
                  </a:ext>
                </a:extLst>
              </a:tr>
              <a:tr h="359508">
                <a:tc vMerge="1">
                  <a:txBody>
                    <a:bodyPr/>
                    <a:lstStyle/>
                    <a:p>
                      <a:pPr algn="ctr"/>
                      <a:endParaRPr lang="zh-TW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extLst>
                  <a:ext uri="{0D108BD9-81ED-4DB2-BD59-A6C34878D82A}">
                    <a16:rowId xmlns:a16="http://schemas.microsoft.com/office/drawing/2014/main" val="3529691877"/>
                  </a:ext>
                </a:extLst>
              </a:tr>
              <a:tr h="359508">
                <a:tc vMerge="1">
                  <a:txBody>
                    <a:bodyPr/>
                    <a:lstStyle/>
                    <a:p>
                      <a:pPr algn="ctr"/>
                      <a:endParaRPr lang="zh-TW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440442"/>
                  </a:ext>
                </a:extLst>
              </a:tr>
              <a:tr h="359508">
                <a:tc vMerge="1"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563" marR="61563" marT="30781" marB="307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0921" marR="70921" marT="35460" marB="3546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456141"/>
                  </a:ext>
                </a:extLst>
              </a:tr>
            </a:tbl>
          </a:graphicData>
        </a:graphic>
      </p:graphicFrame>
      <p:sp>
        <p:nvSpPr>
          <p:cNvPr id="33" name="文字方塊 32"/>
          <p:cNvSpPr txBox="1"/>
          <p:nvPr/>
        </p:nvSpPr>
        <p:spPr>
          <a:xfrm>
            <a:off x="658765" y="1053285"/>
            <a:ext cx="3138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Nearest Neighbors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280886" y="1056831"/>
            <a:ext cx="3138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Time Warping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線單箭頭接點 37"/>
          <p:cNvCxnSpPr/>
          <p:nvPr/>
        </p:nvCxnSpPr>
        <p:spPr bwMode="auto">
          <a:xfrm flipV="1">
            <a:off x="3648641" y="2880533"/>
            <a:ext cx="1486067" cy="18097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5736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圖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408" y="5966579"/>
            <a:ext cx="7024960" cy="2716669"/>
          </a:xfrm>
          <a:prstGeom prst="rect">
            <a:avLst/>
          </a:prstGeom>
        </p:spPr>
      </p:pic>
      <p:cxnSp>
        <p:nvCxnSpPr>
          <p:cNvPr id="5" name="直線單箭頭接點 4"/>
          <p:cNvCxnSpPr/>
          <p:nvPr/>
        </p:nvCxnSpPr>
        <p:spPr bwMode="auto">
          <a:xfrm>
            <a:off x="518747" y="5257800"/>
            <a:ext cx="4615961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直線單箭頭接點 5"/>
          <p:cNvCxnSpPr/>
          <p:nvPr/>
        </p:nvCxnSpPr>
        <p:spPr bwMode="auto">
          <a:xfrm flipH="1" flipV="1">
            <a:off x="518747" y="1371600"/>
            <a:ext cx="8792" cy="39037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橢圓 6"/>
          <p:cNvSpPr/>
          <p:nvPr/>
        </p:nvSpPr>
        <p:spPr bwMode="auto">
          <a:xfrm>
            <a:off x="2305517" y="4084713"/>
            <a:ext cx="386861" cy="38686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3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8" name="橢圓 7"/>
          <p:cNvSpPr/>
          <p:nvPr/>
        </p:nvSpPr>
        <p:spPr bwMode="auto">
          <a:xfrm>
            <a:off x="3603440" y="3565224"/>
            <a:ext cx="386861" cy="386861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1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9" name="橢圓 8"/>
          <p:cNvSpPr/>
          <p:nvPr/>
        </p:nvSpPr>
        <p:spPr bwMode="auto">
          <a:xfrm>
            <a:off x="3357383" y="2977189"/>
            <a:ext cx="386861" cy="38686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4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0" name="橢圓 9"/>
          <p:cNvSpPr/>
          <p:nvPr/>
        </p:nvSpPr>
        <p:spPr bwMode="auto">
          <a:xfrm>
            <a:off x="2811629" y="4189058"/>
            <a:ext cx="386861" cy="386861"/>
          </a:xfrm>
          <a:prstGeom prst="ellipse">
            <a:avLst/>
          </a:prstGeom>
          <a:solidFill>
            <a:srgbClr val="5B9BD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2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1" name="橢圓 10"/>
          <p:cNvSpPr/>
          <p:nvPr/>
        </p:nvSpPr>
        <p:spPr bwMode="auto">
          <a:xfrm>
            <a:off x="768271" y="2864640"/>
            <a:ext cx="392723" cy="361949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6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2" name="橢圓 11"/>
          <p:cNvSpPr/>
          <p:nvPr/>
        </p:nvSpPr>
        <p:spPr bwMode="auto">
          <a:xfrm>
            <a:off x="613995" y="3639752"/>
            <a:ext cx="392723" cy="361949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9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3" name="橢圓 12"/>
          <p:cNvSpPr/>
          <p:nvPr/>
        </p:nvSpPr>
        <p:spPr bwMode="auto">
          <a:xfrm>
            <a:off x="2783500" y="2857503"/>
            <a:ext cx="392723" cy="361949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5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4" name="橢圓 13"/>
          <p:cNvSpPr/>
          <p:nvPr/>
        </p:nvSpPr>
        <p:spPr bwMode="auto">
          <a:xfrm>
            <a:off x="1114441" y="4382489"/>
            <a:ext cx="392723" cy="361949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8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5" name="橢圓 14"/>
          <p:cNvSpPr/>
          <p:nvPr/>
        </p:nvSpPr>
        <p:spPr bwMode="auto">
          <a:xfrm>
            <a:off x="1547101" y="2464825"/>
            <a:ext cx="392723" cy="361949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>
                <a:solidFill>
                  <a:schemeClr val="bg1"/>
                </a:solidFill>
                <a:latin typeface="Arial" charset="0"/>
                <a:ea typeface="新細明體" charset="-120"/>
              </a:rPr>
              <a:t>7</a:t>
            </a:r>
            <a:endParaRPr kumimoji="0" lang="zh-TW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58765" y="1550181"/>
            <a:ext cx="1019908" cy="369332"/>
          </a:xfrm>
          <a:prstGeom prst="rect">
            <a:avLst/>
          </a:prstGeom>
          <a:solidFill>
            <a:srgbClr val="5B9BD5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58765" y="2031819"/>
            <a:ext cx="1019908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B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五角星形 17"/>
          <p:cNvSpPr/>
          <p:nvPr/>
        </p:nvSpPr>
        <p:spPr bwMode="auto">
          <a:xfrm>
            <a:off x="2420888" y="3388937"/>
            <a:ext cx="473319" cy="473319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19" name="橢圓 18"/>
          <p:cNvSpPr/>
          <p:nvPr/>
        </p:nvSpPr>
        <p:spPr bwMode="auto">
          <a:xfrm>
            <a:off x="2060864" y="2464825"/>
            <a:ext cx="2682914" cy="2709156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648641" y="2155556"/>
            <a:ext cx="110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58765" y="1053285"/>
            <a:ext cx="3138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Nearest Neighbors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885371" y="1064914"/>
            <a:ext cx="3138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Time Warping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496006" y="3992100"/>
            <a:ext cx="1108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Thresholds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1189963" y="3285485"/>
            <a:ext cx="10607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Time Warping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線單箭頭接點 34"/>
          <p:cNvCxnSpPr>
            <a:stCxn id="11" idx="6"/>
            <a:endCxn id="18" idx="1"/>
          </p:cNvCxnSpPr>
          <p:nvPr/>
        </p:nvCxnSpPr>
        <p:spPr bwMode="auto">
          <a:xfrm>
            <a:off x="1160994" y="3045615"/>
            <a:ext cx="1259895" cy="52411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61" name="文字方塊 60"/>
          <p:cNvSpPr txBox="1"/>
          <p:nvPr/>
        </p:nvSpPr>
        <p:spPr>
          <a:xfrm>
            <a:off x="1997952" y="5597247"/>
            <a:ext cx="3138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K Nearest Neighbors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4985618" y="5597247"/>
            <a:ext cx="3138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Dynamic Time Warping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線單箭頭接點 25"/>
          <p:cNvCxnSpPr/>
          <p:nvPr/>
        </p:nvCxnSpPr>
        <p:spPr bwMode="auto">
          <a:xfrm flipV="1">
            <a:off x="4181032" y="7205193"/>
            <a:ext cx="1770188" cy="4757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65" name="圖片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233" y="6130455"/>
            <a:ext cx="3002175" cy="2552793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938" y="1419949"/>
            <a:ext cx="6811455" cy="263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64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5050971"/>
                  </p:ext>
                </p:extLst>
              </p:nvPr>
            </p:nvGraphicFramePr>
            <p:xfrm>
              <a:off x="405112" y="1072428"/>
              <a:ext cx="5577879" cy="38734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0246">
                      <a:extLst>
                        <a:ext uri="{9D8B030D-6E8A-4147-A177-3AD203B41FA5}">
                          <a16:colId xmlns:a16="http://schemas.microsoft.com/office/drawing/2014/main" val="2473427622"/>
                        </a:ext>
                      </a:extLst>
                    </a:gridCol>
                    <a:gridCol w="652331">
                      <a:extLst>
                        <a:ext uri="{9D8B030D-6E8A-4147-A177-3AD203B41FA5}">
                          <a16:colId xmlns:a16="http://schemas.microsoft.com/office/drawing/2014/main" val="730421548"/>
                        </a:ext>
                      </a:extLst>
                    </a:gridCol>
                    <a:gridCol w="1438434">
                      <a:extLst>
                        <a:ext uri="{9D8B030D-6E8A-4147-A177-3AD203B41FA5}">
                          <a16:colId xmlns:a16="http://schemas.microsoft.com/office/drawing/2014/main" val="2120939769"/>
                        </a:ext>
                      </a:extLst>
                    </a:gridCol>
                    <a:gridCol w="1438434">
                      <a:extLst>
                        <a:ext uri="{9D8B030D-6E8A-4147-A177-3AD203B41FA5}">
                          <a16:colId xmlns:a16="http://schemas.microsoft.com/office/drawing/2014/main" val="3910732909"/>
                        </a:ext>
                      </a:extLst>
                    </a:gridCol>
                    <a:gridCol w="1438434">
                      <a:extLst>
                        <a:ext uri="{9D8B030D-6E8A-4147-A177-3AD203B41FA5}">
                          <a16:colId xmlns:a16="http://schemas.microsoft.com/office/drawing/2014/main" val="2221906460"/>
                        </a:ext>
                      </a:extLst>
                    </a:gridCol>
                  </a:tblGrid>
                  <a:tr h="344567">
                    <a:tc gridSpan="2">
                      <a:txBody>
                        <a:bodyPr/>
                        <a:lstStyle/>
                        <a:p>
                          <a:pPr algn="ctr"/>
                          <a:endParaRPr lang="zh-TW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lnL w="12700" cmpd="sng">
                          <a:noFill/>
                        </a:lnL>
                        <a:lnT w="12700" cmpd="sng">
                          <a:noFill/>
                        </a:lnT>
                        <a:lnB w="12700" cmpd="sng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63" marR="61563" marT="30781" marB="30781" anchor="ctr">
                        <a:lnT w="12700" cmpd="sng">
                          <a:noFill/>
                        </a:lnT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solidFill>
                          <a:srgbClr val="FBE5D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63" marR="61563" marT="30781" marB="30781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63" marR="61563" marT="30781" marB="30781" anchor="ctr"/>
                    </a:tc>
                    <a:extLst>
                      <a:ext uri="{0D108BD9-81ED-4DB2-BD59-A6C34878D82A}">
                        <a16:rowId xmlns:a16="http://schemas.microsoft.com/office/drawing/2014/main" val="421158920"/>
                      </a:ext>
                    </a:extLst>
                  </a:tr>
                  <a:tr h="4183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lnL w="12700" cmpd="sng">
                          <a:noFill/>
                        </a:lnL>
                        <a:lnT w="12700" cmpd="sng">
                          <a:noFill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frame</a:t>
                          </a:r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solidFill>
                          <a:srgbClr val="D0CE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solidFill>
                          <a:srgbClr val="D0CE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solidFill>
                          <a:srgbClr val="D0CEC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672366"/>
                      </a:ext>
                    </a:extLst>
                  </a:tr>
                  <a:tr h="418302">
                    <a:tc rowSpan="4">
                      <a:txBody>
                        <a:bodyPr/>
                        <a:lstStyle/>
                        <a:p>
                          <a:pPr marL="0" marR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K1</a:t>
                          </a:r>
                          <a:endParaRPr lang="zh-TW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vert="eaVert" anchor="ctr">
                        <a:solidFill>
                          <a:srgbClr val="FBE5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solidFill>
                          <a:srgbClr val="D0CE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altLang="zh-TW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  <m:sSub>
                                  <m:sSub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lang="en-US" altLang="zh-TW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US" altLang="zh-TW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+||</m:t>
                                </m:r>
                                <m:sSub>
                                  <m:sSub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1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sz="1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lang="en-US" altLang="zh-TW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r>
                                  <a:rPr kumimoji="0" lang="en-US" altLang="zh-TW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US" altLang="zh-TW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+||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kumimoji="0" lang="en-US" altLang="zh-TW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/>
                    </a:tc>
                    <a:extLst>
                      <a:ext uri="{0D108BD9-81ED-4DB2-BD59-A6C34878D82A}">
                        <a16:rowId xmlns:a16="http://schemas.microsoft.com/office/drawing/2014/main" val="1125413430"/>
                      </a:ext>
                    </a:extLst>
                  </a:tr>
                  <a:tr h="418302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63" marR="61563" marT="30781" marB="3078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solidFill>
                          <a:srgbClr val="D0CE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kumimoji="0" lang="en-US" altLang="zh-TW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US" altLang="zh-TW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+||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kumimoji="0" lang="en-US" altLang="zh-TW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kumimoji="0" lang="en-US" altLang="zh-TW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US" altLang="zh-TW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1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min</m:t>
                                    </m:r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⁡(</m:t>
                                    </m:r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US" altLang="zh-TW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+||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kumimoji="0" lang="en-US" altLang="zh-TW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kumimoji="0" lang="en-US" altLang="zh-TW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US" altLang="zh-TW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1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min</m:t>
                                    </m:r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⁡(</m:t>
                                    </m:r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US" altLang="zh-TW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+||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kumimoji="0" lang="en-US" altLang="zh-TW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6569682"/>
                      </a:ext>
                    </a:extLst>
                  </a:tr>
                  <a:tr h="418302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63" marR="61563" marT="30781" marB="3078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solidFill>
                          <a:srgbClr val="D0CE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  <m:r>
                                  <a:rPr kumimoji="0" lang="en-US" altLang="zh-TW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US" altLang="zh-TW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+||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kumimoji="0" lang="en-US" altLang="zh-TW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  <m:r>
                                  <a:rPr kumimoji="0" lang="en-US" altLang="zh-TW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US" altLang="zh-TW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1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min</m:t>
                                    </m:r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⁡(</m:t>
                                    </m:r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US" altLang="zh-TW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+||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kumimoji="0" lang="en-US" altLang="zh-TW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  <m:r>
                                  <a:rPr kumimoji="0" lang="en-US" altLang="zh-TW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US" altLang="zh-TW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1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min</m:t>
                                    </m:r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⁡(</m:t>
                                    </m:r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US" altLang="zh-TW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+||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kumimoji="0" lang="en-US" altLang="zh-TW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/>
                    </a:tc>
                    <a:extLst>
                      <a:ext uri="{0D108BD9-81ED-4DB2-BD59-A6C34878D82A}">
                        <a16:rowId xmlns:a16="http://schemas.microsoft.com/office/drawing/2014/main" val="3188449648"/>
                      </a:ext>
                    </a:extLst>
                  </a:tr>
                  <a:tr h="418302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1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63" marR="61563" marT="30781" marB="30781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solidFill>
                          <a:srgbClr val="D0CE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41</m:t>
                                    </m:r>
                                  </m:sub>
                                </m:sSub>
                                <m:r>
                                  <a:rPr kumimoji="0" lang="en-US" altLang="zh-TW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US" altLang="zh-TW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+||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kumimoji="0" lang="en-US" altLang="zh-TW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42</m:t>
                                    </m:r>
                                  </m:sub>
                                </m:sSub>
                                <m:r>
                                  <a:rPr kumimoji="0" lang="en-US" altLang="zh-TW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US" altLang="zh-TW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1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min</m:t>
                                    </m:r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⁡(</m:t>
                                    </m:r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41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US" altLang="zh-TW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+||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kumimoji="0" lang="en-US" altLang="zh-TW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43</m:t>
                                    </m:r>
                                  </m:sub>
                                </m:sSub>
                                <m:r>
                                  <a:rPr kumimoji="0" lang="en-US" altLang="zh-TW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kumimoji="0" lang="en-US" altLang="zh-TW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0" lang="en-US" altLang="zh-TW" sz="1400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min</m:t>
                                    </m:r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⁡(</m:t>
                                    </m:r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kumimoji="0" lang="en-US" altLang="zh-TW" sz="1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+||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en-US" altLang="zh-TW" sz="1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kumimoji="0" lang="en-US" altLang="zh-TW" sz="1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kumimoji="0" lang="en-US" altLang="zh-TW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/>
                    </a:tc>
                    <a:extLst>
                      <a:ext uri="{0D108BD9-81ED-4DB2-BD59-A6C34878D82A}">
                        <a16:rowId xmlns:a16="http://schemas.microsoft.com/office/drawing/2014/main" val="8327095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5050971"/>
                  </p:ext>
                </p:extLst>
              </p:nvPr>
            </p:nvGraphicFramePr>
            <p:xfrm>
              <a:off x="405112" y="1072428"/>
              <a:ext cx="5577879" cy="38734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0246">
                      <a:extLst>
                        <a:ext uri="{9D8B030D-6E8A-4147-A177-3AD203B41FA5}">
                          <a16:colId xmlns:a16="http://schemas.microsoft.com/office/drawing/2014/main" val="2473427622"/>
                        </a:ext>
                      </a:extLst>
                    </a:gridCol>
                    <a:gridCol w="652331">
                      <a:extLst>
                        <a:ext uri="{9D8B030D-6E8A-4147-A177-3AD203B41FA5}">
                          <a16:colId xmlns:a16="http://schemas.microsoft.com/office/drawing/2014/main" val="730421548"/>
                        </a:ext>
                      </a:extLst>
                    </a:gridCol>
                    <a:gridCol w="1438434">
                      <a:extLst>
                        <a:ext uri="{9D8B030D-6E8A-4147-A177-3AD203B41FA5}">
                          <a16:colId xmlns:a16="http://schemas.microsoft.com/office/drawing/2014/main" val="2120939769"/>
                        </a:ext>
                      </a:extLst>
                    </a:gridCol>
                    <a:gridCol w="1438434">
                      <a:extLst>
                        <a:ext uri="{9D8B030D-6E8A-4147-A177-3AD203B41FA5}">
                          <a16:colId xmlns:a16="http://schemas.microsoft.com/office/drawing/2014/main" val="3910732909"/>
                        </a:ext>
                      </a:extLst>
                    </a:gridCol>
                    <a:gridCol w="1438434">
                      <a:extLst>
                        <a:ext uri="{9D8B030D-6E8A-4147-A177-3AD203B41FA5}">
                          <a16:colId xmlns:a16="http://schemas.microsoft.com/office/drawing/2014/main" val="2221906460"/>
                        </a:ext>
                      </a:extLst>
                    </a:gridCol>
                  </a:tblGrid>
                  <a:tr h="416712">
                    <a:tc gridSpan="2">
                      <a:txBody>
                        <a:bodyPr/>
                        <a:lstStyle/>
                        <a:p>
                          <a:pPr algn="ctr"/>
                          <a:endParaRPr lang="zh-TW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lnL w="12700" cmpd="sng">
                          <a:noFill/>
                        </a:lnL>
                        <a:lnT w="12700" cmpd="sng">
                          <a:noFill/>
                        </a:lnT>
                        <a:lnB w="12700" cmpd="sng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63" marR="61563" marT="30781" marB="30781" anchor="ctr">
                        <a:lnT w="12700" cmpd="sng">
                          <a:noFill/>
                        </a:lnT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2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endParaRPr lang="zh-TW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solidFill>
                          <a:srgbClr val="FBE5D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63" marR="61563" marT="30781" marB="30781"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63" marR="61563" marT="30781" marB="30781" anchor="ctr"/>
                    </a:tc>
                    <a:extLst>
                      <a:ext uri="{0D108BD9-81ED-4DB2-BD59-A6C34878D82A}">
                        <a16:rowId xmlns:a16="http://schemas.microsoft.com/office/drawing/2014/main" val="421158920"/>
                      </a:ext>
                    </a:extLst>
                  </a:tr>
                  <a:tr h="41830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>
                        <a:lnL w="12700" cmpd="sng">
                          <a:noFill/>
                        </a:lnL>
                        <a:lnT w="12700" cmpd="sng">
                          <a:noFill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frame</a:t>
                          </a:r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89451" t="-111765" r="-200000" b="-742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190254" t="-111765" r="-100847" b="-742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290254" t="-111765" r="-847" b="-742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3672366"/>
                      </a:ext>
                    </a:extLst>
                  </a:tr>
                  <a:tr h="599592">
                    <a:tc rowSpan="4">
                      <a:txBody>
                        <a:bodyPr/>
                        <a:lstStyle/>
                        <a:p>
                          <a:pPr marL="0" marR="0" indent="0" algn="ctr" defTabSz="12191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22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K1</a:t>
                          </a:r>
                          <a:endParaRPr lang="zh-TW" altLang="en-US" sz="22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1433" marR="81433" marT="40716" marB="40716" vert="eaVert" anchor="ctr">
                        <a:solidFill>
                          <a:srgbClr val="FBE5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98131" t="-145455" r="-664486" b="-410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89451" t="-145455" r="-200000" b="-410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190254" t="-145455" r="-100847" b="-410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290254" t="-145455" r="-847" b="-4101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413430"/>
                      </a:ext>
                    </a:extLst>
                  </a:tr>
                  <a:tr h="812952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63" marR="61563" marT="30781" marB="30781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98131" t="-181343" r="-664486" b="-2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89451" t="-181343" r="-200000" b="-2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190254" t="-181343" r="-100847" b="-2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290254" t="-181343" r="-847" b="-202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6569682"/>
                      </a:ext>
                    </a:extLst>
                  </a:tr>
                  <a:tr h="812952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63" marR="61563" marT="30781" marB="30781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98131" t="-283459" r="-664486" b="-1045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89451" t="-283459" r="-200000" b="-1045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190254" t="-283459" r="-100847" b="-1045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290254" t="-283459" r="-847" b="-1045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8449648"/>
                      </a:ext>
                    </a:extLst>
                  </a:tr>
                  <a:tr h="812952">
                    <a:tc vMerge="1">
                      <a:txBody>
                        <a:bodyPr/>
                        <a:lstStyle/>
                        <a:p>
                          <a:pPr algn="ctr"/>
                          <a:endParaRPr lang="zh-TW" altLang="en-US" sz="1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563" marR="61563" marT="30781" marB="30781"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98131" t="-380597" r="-664486" b="-3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89451" t="-380597" r="-200000" b="-3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190254" t="-380597" r="-100847" b="-3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1433" marR="81433" marT="40716" marB="40716" anchor="ctr">
                        <a:blipFill>
                          <a:blip r:embed="rId4"/>
                          <a:stretch>
                            <a:fillRect l="-290254" t="-380597" r="-847" b="-37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7095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1280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/>
          <p:cNvSpPr txBox="1"/>
          <p:nvPr/>
        </p:nvSpPr>
        <p:spPr>
          <a:xfrm>
            <a:off x="178960" y="3449676"/>
            <a:ext cx="500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MF 128 Scales [100 4000]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768911" y="3456123"/>
            <a:ext cx="500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IMF 19 Scales [4000 8000]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9777412" y="3456123"/>
            <a:ext cx="420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CMF 147 Scales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4" r="5844"/>
          <a:stretch/>
        </p:blipFill>
        <p:spPr bwMode="auto">
          <a:xfrm>
            <a:off x="6090749" y="1124194"/>
            <a:ext cx="4927610" cy="22432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圖片 4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4" r="6488"/>
          <a:stretch/>
        </p:blipFill>
        <p:spPr bwMode="auto">
          <a:xfrm>
            <a:off x="1053392" y="1124194"/>
            <a:ext cx="4933656" cy="22432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053392" y="896814"/>
            <a:ext cx="5037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 Frequency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90749" y="896814"/>
            <a:ext cx="5037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Mel Frequency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4"/>
          <a:srcRect t="6414"/>
          <a:stretch/>
        </p:blipFill>
        <p:spPr>
          <a:xfrm>
            <a:off x="178960" y="3812561"/>
            <a:ext cx="5008501" cy="351135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5"/>
          <a:srcRect t="6335"/>
          <a:stretch/>
        </p:blipFill>
        <p:spPr>
          <a:xfrm>
            <a:off x="4768911" y="3819008"/>
            <a:ext cx="5008501" cy="35143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6"/>
          <a:srcRect t="5883"/>
          <a:stretch/>
        </p:blipFill>
        <p:spPr>
          <a:xfrm>
            <a:off x="9358862" y="3809049"/>
            <a:ext cx="5008501" cy="353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2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29153" y="1611528"/>
            <a:ext cx="5008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MF 128 Scales [100 4000]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644249" y="1616126"/>
            <a:ext cx="4587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MF 128 Scales [100 8000]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t="6414"/>
          <a:stretch/>
        </p:blipFill>
        <p:spPr>
          <a:xfrm>
            <a:off x="-4458739" y="0"/>
            <a:ext cx="5008501" cy="351135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3"/>
          <a:srcRect t="5883"/>
          <a:stretch/>
        </p:blipFill>
        <p:spPr>
          <a:xfrm>
            <a:off x="-6926592" y="3671856"/>
            <a:ext cx="5008501" cy="3531274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 rotWithShape="1">
          <a:blip r:embed="rId4"/>
          <a:srcRect t="6353"/>
          <a:stretch/>
        </p:blipFill>
        <p:spPr>
          <a:xfrm>
            <a:off x="9232141" y="2063751"/>
            <a:ext cx="5008501" cy="3513654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53" y="1796194"/>
            <a:ext cx="5008501" cy="3752000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9232141" y="1640739"/>
            <a:ext cx="4934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Spectrogram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Strolling</a:t>
            </a:r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250" y="1796194"/>
            <a:ext cx="5007600" cy="3751325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5329" y="6262374"/>
            <a:ext cx="2745732" cy="1929600"/>
          </a:xfrm>
          <a:prstGeom prst="rect">
            <a:avLst/>
          </a:prstGeom>
        </p:spPr>
      </p:pic>
      <p:sp>
        <p:nvSpPr>
          <p:cNvPr id="19" name="文字方塊 18"/>
          <p:cNvSpPr txBox="1"/>
          <p:nvPr/>
        </p:nvSpPr>
        <p:spPr>
          <a:xfrm>
            <a:off x="5579737" y="6038120"/>
            <a:ext cx="2745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MF 128 Scales [100 8000]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5189" y="6262374"/>
            <a:ext cx="2745732" cy="1929600"/>
          </a:xfrm>
          <a:prstGeom prst="rect">
            <a:avLst/>
          </a:prstGeom>
        </p:spPr>
      </p:pic>
      <p:sp>
        <p:nvSpPr>
          <p:cNvPr id="21" name="文字方塊 20"/>
          <p:cNvSpPr txBox="1"/>
          <p:nvPr/>
        </p:nvSpPr>
        <p:spPr>
          <a:xfrm>
            <a:off x="2816119" y="6038120"/>
            <a:ext cx="2745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MF 128 Scales [100 4000]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 rotWithShape="1">
          <a:blip r:embed="rId9"/>
          <a:srcRect t="8567"/>
          <a:stretch/>
        </p:blipFill>
        <p:spPr>
          <a:xfrm>
            <a:off x="244708" y="6388100"/>
            <a:ext cx="2763619" cy="1764286"/>
          </a:xfrm>
          <a:prstGeom prst="rect">
            <a:avLst/>
          </a:prstGeom>
        </p:spPr>
      </p:pic>
      <p:sp>
        <p:nvSpPr>
          <p:cNvPr id="23" name="文字方塊 22"/>
          <p:cNvSpPr txBox="1"/>
          <p:nvPr/>
        </p:nvSpPr>
        <p:spPr>
          <a:xfrm>
            <a:off x="152330" y="6038120"/>
            <a:ext cx="27526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Spectrogram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Strolling</a:t>
            </a:r>
          </a:p>
        </p:txBody>
      </p:sp>
    </p:spTree>
    <p:extLst>
      <p:ext uri="{BB962C8B-B14F-4D97-AF65-F5344CB8AC3E}">
        <p14:creationId xmlns:p14="http://schemas.microsoft.com/office/powerpoint/2010/main" val="2986312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/>
          <p:cNvSpPr txBox="1"/>
          <p:nvPr/>
        </p:nvSpPr>
        <p:spPr>
          <a:xfrm>
            <a:off x="1637821" y="3604435"/>
            <a:ext cx="4078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(a)Triangular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filterbank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 of MFCC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300837" y="3604435"/>
            <a:ext cx="4078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(b)Triangular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filterbank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 of IMFCC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821" y="1695582"/>
            <a:ext cx="4094269" cy="159206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125" y="1714649"/>
            <a:ext cx="4084725" cy="15730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0512" y="6052587"/>
            <a:ext cx="4447388" cy="20878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252" y="6052587"/>
            <a:ext cx="4409213" cy="2049667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0273" y="3839245"/>
            <a:ext cx="3569363" cy="1897133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9805" y="3839244"/>
            <a:ext cx="3569363" cy="189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095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/>
          <p:cNvGrpSpPr/>
          <p:nvPr/>
        </p:nvGrpSpPr>
        <p:grpSpPr>
          <a:xfrm>
            <a:off x="1792632" y="3727381"/>
            <a:ext cx="4428300" cy="1563467"/>
            <a:chOff x="5460743" y="3623524"/>
            <a:chExt cx="4428300" cy="1563467"/>
          </a:xfrm>
        </p:grpSpPr>
        <p:pic>
          <p:nvPicPr>
            <p:cNvPr id="21" name="圖片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0743" y="3623524"/>
              <a:ext cx="4428300" cy="156346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/>
                <p:cNvSpPr txBox="1"/>
                <p:nvPr/>
              </p:nvSpPr>
              <p:spPr>
                <a:xfrm>
                  <a:off x="6319355" y="3656743"/>
                  <a:ext cx="5874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文字方塊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355" y="3656743"/>
                  <a:ext cx="587433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/>
                <p:cNvSpPr txBox="1"/>
                <p:nvPr/>
              </p:nvSpPr>
              <p:spPr>
                <a:xfrm>
                  <a:off x="5889513" y="4177525"/>
                  <a:ext cx="5874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文字方塊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9513" y="4177525"/>
                  <a:ext cx="587433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/>
                <p:cNvSpPr txBox="1"/>
                <p:nvPr/>
              </p:nvSpPr>
              <p:spPr>
                <a:xfrm>
                  <a:off x="6871137" y="3766628"/>
                  <a:ext cx="5874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文字方塊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1137" y="3766628"/>
                  <a:ext cx="587433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/>
                <p:cNvSpPr txBox="1"/>
                <p:nvPr/>
              </p:nvSpPr>
              <p:spPr>
                <a:xfrm>
                  <a:off x="7835921" y="4171405"/>
                  <a:ext cx="5874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5921" y="4171405"/>
                  <a:ext cx="587433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群組 31"/>
          <p:cNvGrpSpPr/>
          <p:nvPr/>
        </p:nvGrpSpPr>
        <p:grpSpPr>
          <a:xfrm>
            <a:off x="1770919" y="1485076"/>
            <a:ext cx="4553326" cy="1808062"/>
            <a:chOff x="3342544" y="151576"/>
            <a:chExt cx="4553326" cy="1808062"/>
          </a:xfrm>
        </p:grpSpPr>
        <p:grpSp>
          <p:nvGrpSpPr>
            <p:cNvPr id="30" name="群組 29"/>
            <p:cNvGrpSpPr/>
            <p:nvPr/>
          </p:nvGrpSpPr>
          <p:grpSpPr>
            <a:xfrm>
              <a:off x="3342545" y="424771"/>
              <a:ext cx="4390125" cy="1534867"/>
              <a:chOff x="5460743" y="395284"/>
              <a:chExt cx="4390125" cy="1534867"/>
            </a:xfrm>
          </p:grpSpPr>
          <p:pic>
            <p:nvPicPr>
              <p:cNvPr id="23" name="圖片 22"/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60743" y="395284"/>
                <a:ext cx="4390125" cy="153486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字方塊 15"/>
                  <p:cNvSpPr txBox="1"/>
                  <p:nvPr/>
                </p:nvSpPr>
                <p:spPr>
                  <a:xfrm>
                    <a:off x="6283704" y="568497"/>
                    <a:ext cx="5874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文字方塊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3704" y="568497"/>
                    <a:ext cx="587433" cy="369332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字方塊 16"/>
                  <p:cNvSpPr txBox="1"/>
                  <p:nvPr/>
                </p:nvSpPr>
                <p:spPr>
                  <a:xfrm>
                    <a:off x="5874837" y="460643"/>
                    <a:ext cx="5874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" name="文字方塊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4837" y="460643"/>
                    <a:ext cx="587433" cy="36933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" name="文字方塊 30"/>
            <p:cNvSpPr txBox="1"/>
            <p:nvPr/>
          </p:nvSpPr>
          <p:spPr>
            <a:xfrm>
              <a:off x="3342544" y="151576"/>
              <a:ext cx="45533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Voiced Sound</a:t>
              </a:r>
              <a:endPara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6030517" y="1417553"/>
            <a:ext cx="4409213" cy="1869682"/>
            <a:chOff x="6225515" y="2918685"/>
            <a:chExt cx="4409213" cy="1869682"/>
          </a:xfrm>
        </p:grpSpPr>
        <p:grpSp>
          <p:nvGrpSpPr>
            <p:cNvPr id="29" name="群組 28"/>
            <p:cNvGrpSpPr/>
            <p:nvPr/>
          </p:nvGrpSpPr>
          <p:grpSpPr>
            <a:xfrm>
              <a:off x="6225515" y="3253500"/>
              <a:ext cx="4409213" cy="1534867"/>
              <a:chOff x="5460743" y="1891887"/>
              <a:chExt cx="4409213" cy="1534867"/>
            </a:xfrm>
          </p:grpSpPr>
          <p:pic>
            <p:nvPicPr>
              <p:cNvPr id="22" name="圖片 21"/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460743" y="1891887"/>
                <a:ext cx="4409213" cy="153486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字方塊 17"/>
                  <p:cNvSpPr txBox="1"/>
                  <p:nvPr/>
                </p:nvSpPr>
                <p:spPr>
                  <a:xfrm>
                    <a:off x="8002893" y="2126921"/>
                    <a:ext cx="5874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" name="文字方塊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02893" y="2126921"/>
                    <a:ext cx="587433" cy="369332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字方塊 18"/>
                  <p:cNvSpPr txBox="1"/>
                  <p:nvPr/>
                </p:nvSpPr>
                <p:spPr>
                  <a:xfrm>
                    <a:off x="8428386" y="2126921"/>
                    <a:ext cx="5874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文字方塊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8386" y="2126921"/>
                    <a:ext cx="587433" cy="369332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字方塊 19"/>
                  <p:cNvSpPr txBox="1"/>
                  <p:nvPr/>
                </p:nvSpPr>
                <p:spPr>
                  <a:xfrm>
                    <a:off x="8738728" y="1950568"/>
                    <a:ext cx="5874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文字方塊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38728" y="1950568"/>
                    <a:ext cx="587433" cy="36933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3" name="文字方塊 32"/>
            <p:cNvSpPr txBox="1"/>
            <p:nvPr/>
          </p:nvSpPr>
          <p:spPr>
            <a:xfrm>
              <a:off x="6225515" y="2918685"/>
              <a:ext cx="44092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 Voiceless Sound</a:t>
              </a:r>
              <a:endPara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字方塊 42"/>
          <p:cNvSpPr txBox="1"/>
          <p:nvPr/>
        </p:nvSpPr>
        <p:spPr>
          <a:xfrm>
            <a:off x="1770919" y="3388827"/>
            <a:ext cx="4471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Voiced and Voiceless Sound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6028606" y="3388827"/>
            <a:ext cx="4471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Silent Sound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圖片 5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156026" y="3727381"/>
            <a:ext cx="4409213" cy="155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760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/>
          <p:cNvGrpSpPr/>
          <p:nvPr/>
        </p:nvGrpSpPr>
        <p:grpSpPr>
          <a:xfrm>
            <a:off x="1792632" y="3519564"/>
            <a:ext cx="4428300" cy="1563467"/>
            <a:chOff x="5460743" y="3623524"/>
            <a:chExt cx="4428300" cy="1563467"/>
          </a:xfrm>
        </p:grpSpPr>
        <p:pic>
          <p:nvPicPr>
            <p:cNvPr id="21" name="圖片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0743" y="3623524"/>
              <a:ext cx="4428300" cy="156346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/>
                <p:cNvSpPr txBox="1"/>
                <p:nvPr/>
              </p:nvSpPr>
              <p:spPr>
                <a:xfrm>
                  <a:off x="6319355" y="3656743"/>
                  <a:ext cx="5874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文字方塊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355" y="3656743"/>
                  <a:ext cx="587433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/>
                <p:cNvSpPr txBox="1"/>
                <p:nvPr/>
              </p:nvSpPr>
              <p:spPr>
                <a:xfrm>
                  <a:off x="5889513" y="4177525"/>
                  <a:ext cx="5874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文字方塊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9513" y="4177525"/>
                  <a:ext cx="58743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/>
                <p:cNvSpPr txBox="1"/>
                <p:nvPr/>
              </p:nvSpPr>
              <p:spPr>
                <a:xfrm>
                  <a:off x="6871137" y="3766628"/>
                  <a:ext cx="5874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文字方塊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1137" y="3766628"/>
                  <a:ext cx="587433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/>
                <p:cNvSpPr txBox="1"/>
                <p:nvPr/>
              </p:nvSpPr>
              <p:spPr>
                <a:xfrm>
                  <a:off x="7835921" y="4171405"/>
                  <a:ext cx="5874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文字方塊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5921" y="4171405"/>
                  <a:ext cx="58743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群組 31"/>
          <p:cNvGrpSpPr/>
          <p:nvPr/>
        </p:nvGrpSpPr>
        <p:grpSpPr>
          <a:xfrm>
            <a:off x="1770919" y="1552542"/>
            <a:ext cx="4553326" cy="1740596"/>
            <a:chOff x="3342544" y="219042"/>
            <a:chExt cx="4553326" cy="1740596"/>
          </a:xfrm>
        </p:grpSpPr>
        <p:grpSp>
          <p:nvGrpSpPr>
            <p:cNvPr id="30" name="群組 29"/>
            <p:cNvGrpSpPr/>
            <p:nvPr/>
          </p:nvGrpSpPr>
          <p:grpSpPr>
            <a:xfrm>
              <a:off x="3342545" y="424771"/>
              <a:ext cx="4390125" cy="1534867"/>
              <a:chOff x="5460743" y="395284"/>
              <a:chExt cx="4390125" cy="1534867"/>
            </a:xfrm>
          </p:grpSpPr>
          <p:pic>
            <p:nvPicPr>
              <p:cNvPr id="23" name="圖片 2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60743" y="395284"/>
                <a:ext cx="4390125" cy="153486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字方塊 15"/>
                  <p:cNvSpPr txBox="1"/>
                  <p:nvPr/>
                </p:nvSpPr>
                <p:spPr>
                  <a:xfrm>
                    <a:off x="6283704" y="568497"/>
                    <a:ext cx="5874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文字方塊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3704" y="568497"/>
                    <a:ext cx="587433" cy="369332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字方塊 16"/>
                  <p:cNvSpPr txBox="1"/>
                  <p:nvPr/>
                </p:nvSpPr>
                <p:spPr>
                  <a:xfrm>
                    <a:off x="5874837" y="460643"/>
                    <a:ext cx="5874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" name="文字方塊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4837" y="460643"/>
                    <a:ext cx="587433" cy="36933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" name="文字方塊 30"/>
            <p:cNvSpPr txBox="1"/>
            <p:nvPr/>
          </p:nvSpPr>
          <p:spPr>
            <a:xfrm>
              <a:off x="3342544" y="219042"/>
              <a:ext cx="45533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Voiced Sound</a:t>
              </a:r>
              <a:endPara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5772822" y="1548935"/>
            <a:ext cx="4409214" cy="1738300"/>
            <a:chOff x="6225514" y="3050067"/>
            <a:chExt cx="4409214" cy="1738300"/>
          </a:xfrm>
        </p:grpSpPr>
        <p:grpSp>
          <p:nvGrpSpPr>
            <p:cNvPr id="29" name="群組 28"/>
            <p:cNvGrpSpPr/>
            <p:nvPr/>
          </p:nvGrpSpPr>
          <p:grpSpPr>
            <a:xfrm>
              <a:off x="6225515" y="3253500"/>
              <a:ext cx="4409213" cy="1534867"/>
              <a:chOff x="5460743" y="1891887"/>
              <a:chExt cx="4409213" cy="1534867"/>
            </a:xfrm>
          </p:grpSpPr>
          <p:pic>
            <p:nvPicPr>
              <p:cNvPr id="22" name="圖片 21"/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460743" y="1891887"/>
                <a:ext cx="4409213" cy="1534867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字方塊 17"/>
                  <p:cNvSpPr txBox="1"/>
                  <p:nvPr/>
                </p:nvSpPr>
                <p:spPr>
                  <a:xfrm>
                    <a:off x="8002893" y="2126921"/>
                    <a:ext cx="5874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" name="文字方塊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02893" y="2126921"/>
                    <a:ext cx="587433" cy="369332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字方塊 18"/>
                  <p:cNvSpPr txBox="1"/>
                  <p:nvPr/>
                </p:nvSpPr>
                <p:spPr>
                  <a:xfrm>
                    <a:off x="8428386" y="2126921"/>
                    <a:ext cx="5874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文字方塊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8386" y="2126921"/>
                    <a:ext cx="587433" cy="369332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字方塊 19"/>
                  <p:cNvSpPr txBox="1"/>
                  <p:nvPr/>
                </p:nvSpPr>
                <p:spPr>
                  <a:xfrm>
                    <a:off x="8738728" y="1950568"/>
                    <a:ext cx="5874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文字方塊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38728" y="1950568"/>
                    <a:ext cx="587433" cy="36933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3" name="文字方塊 32"/>
            <p:cNvSpPr txBox="1"/>
            <p:nvPr/>
          </p:nvSpPr>
          <p:spPr>
            <a:xfrm>
              <a:off x="6225514" y="3050067"/>
              <a:ext cx="44092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 Voiceless Sound</a:t>
              </a:r>
              <a:endParaRPr lang="zh-TW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字方塊 42"/>
          <p:cNvSpPr txBox="1"/>
          <p:nvPr/>
        </p:nvSpPr>
        <p:spPr>
          <a:xfrm>
            <a:off x="1770919" y="3298615"/>
            <a:ext cx="4471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Voiced and Voiceless Sound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05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546" y="730307"/>
            <a:ext cx="6439198" cy="3060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7725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字方塊 42"/>
          <p:cNvSpPr txBox="1"/>
          <p:nvPr/>
        </p:nvSpPr>
        <p:spPr>
          <a:xfrm>
            <a:off x="4730750" y="225234"/>
            <a:ext cx="161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同人同詞</a:t>
            </a:r>
          </a:p>
        </p:txBody>
      </p:sp>
      <p:pic>
        <p:nvPicPr>
          <p:cNvPr id="47" name="圖片 46"/>
          <p:cNvPicPr>
            <a:picLocks noChangeAspect="1"/>
          </p:cNvPicPr>
          <p:nvPr/>
        </p:nvPicPr>
        <p:blipFill rotWithShape="1">
          <a:blip r:embed="rId2"/>
          <a:srcRect l="7445" r="8072"/>
          <a:stretch/>
        </p:blipFill>
        <p:spPr>
          <a:xfrm>
            <a:off x="1885949" y="3558334"/>
            <a:ext cx="7248525" cy="2392867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3"/>
          <a:srcRect l="7332" r="8296"/>
          <a:stretch/>
        </p:blipFill>
        <p:spPr>
          <a:xfrm>
            <a:off x="1876425" y="880016"/>
            <a:ext cx="7239000" cy="239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802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字方塊 42"/>
          <p:cNvSpPr txBox="1"/>
          <p:nvPr/>
        </p:nvSpPr>
        <p:spPr>
          <a:xfrm>
            <a:off x="4730750" y="225234"/>
            <a:ext cx="161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不同人同詞</a:t>
            </a:r>
          </a:p>
        </p:txBody>
      </p:sp>
    </p:spTree>
    <p:extLst>
      <p:ext uri="{BB962C8B-B14F-4D97-AF65-F5344CB8AC3E}">
        <p14:creationId xmlns:p14="http://schemas.microsoft.com/office/powerpoint/2010/main" val="1781899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810300"/>
              </p:ext>
            </p:extLst>
          </p:nvPr>
        </p:nvGraphicFramePr>
        <p:xfrm>
          <a:off x="1973808" y="129463"/>
          <a:ext cx="7145255" cy="198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9051">
                  <a:extLst>
                    <a:ext uri="{9D8B030D-6E8A-4147-A177-3AD203B41FA5}">
                      <a16:colId xmlns:a16="http://schemas.microsoft.com/office/drawing/2014/main" val="1234951052"/>
                    </a:ext>
                  </a:extLst>
                </a:gridCol>
                <a:gridCol w="1429051">
                  <a:extLst>
                    <a:ext uri="{9D8B030D-6E8A-4147-A177-3AD203B41FA5}">
                      <a16:colId xmlns:a16="http://schemas.microsoft.com/office/drawing/2014/main" val="4293309711"/>
                    </a:ext>
                  </a:extLst>
                </a:gridCol>
                <a:gridCol w="1429051">
                  <a:extLst>
                    <a:ext uri="{9D8B030D-6E8A-4147-A177-3AD203B41FA5}">
                      <a16:colId xmlns:a16="http://schemas.microsoft.com/office/drawing/2014/main" val="3419869293"/>
                    </a:ext>
                  </a:extLst>
                </a:gridCol>
                <a:gridCol w="1429051">
                  <a:extLst>
                    <a:ext uri="{9D8B030D-6E8A-4147-A177-3AD203B41FA5}">
                      <a16:colId xmlns:a16="http://schemas.microsoft.com/office/drawing/2014/main" val="4202442514"/>
                    </a:ext>
                  </a:extLst>
                </a:gridCol>
                <a:gridCol w="1429051">
                  <a:extLst>
                    <a:ext uri="{9D8B030D-6E8A-4147-A177-3AD203B41FA5}">
                      <a16:colId xmlns:a16="http://schemas.microsoft.com/office/drawing/2014/main" val="1505740970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Accuracy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Precision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Recall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F1-Measure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302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MFCC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78.75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86.41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80.83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83.53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07723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IMFCC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73.75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85.75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72.71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78.69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50801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LFCC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86.39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89.46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90.21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89.83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93336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FFCC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91.67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95.65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91.67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93.62</a:t>
                      </a:r>
                      <a:endParaRPr lang="zh-TW" altLang="en-US" sz="2000" b="1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119275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215996"/>
              </p:ext>
            </p:extLst>
          </p:nvPr>
        </p:nvGraphicFramePr>
        <p:xfrm>
          <a:off x="796954" y="2518292"/>
          <a:ext cx="9790488" cy="3550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3811">
                  <a:extLst>
                    <a:ext uri="{9D8B030D-6E8A-4147-A177-3AD203B41FA5}">
                      <a16:colId xmlns:a16="http://schemas.microsoft.com/office/drawing/2014/main" val="1234951052"/>
                    </a:ext>
                  </a:extLst>
                </a:gridCol>
                <a:gridCol w="1223811">
                  <a:extLst>
                    <a:ext uri="{9D8B030D-6E8A-4147-A177-3AD203B41FA5}">
                      <a16:colId xmlns:a16="http://schemas.microsoft.com/office/drawing/2014/main" val="4293309711"/>
                    </a:ext>
                  </a:extLst>
                </a:gridCol>
                <a:gridCol w="1223811">
                  <a:extLst>
                    <a:ext uri="{9D8B030D-6E8A-4147-A177-3AD203B41FA5}">
                      <a16:colId xmlns:a16="http://schemas.microsoft.com/office/drawing/2014/main" val="3419869293"/>
                    </a:ext>
                  </a:extLst>
                </a:gridCol>
                <a:gridCol w="1223811">
                  <a:extLst>
                    <a:ext uri="{9D8B030D-6E8A-4147-A177-3AD203B41FA5}">
                      <a16:colId xmlns:a16="http://schemas.microsoft.com/office/drawing/2014/main" val="4202442514"/>
                    </a:ext>
                  </a:extLst>
                </a:gridCol>
                <a:gridCol w="1223811">
                  <a:extLst>
                    <a:ext uri="{9D8B030D-6E8A-4147-A177-3AD203B41FA5}">
                      <a16:colId xmlns:a16="http://schemas.microsoft.com/office/drawing/2014/main" val="1505740970"/>
                    </a:ext>
                  </a:extLst>
                </a:gridCol>
                <a:gridCol w="1223811">
                  <a:extLst>
                    <a:ext uri="{9D8B030D-6E8A-4147-A177-3AD203B41FA5}">
                      <a16:colId xmlns:a16="http://schemas.microsoft.com/office/drawing/2014/main" val="219286586"/>
                    </a:ext>
                  </a:extLst>
                </a:gridCol>
                <a:gridCol w="1223811">
                  <a:extLst>
                    <a:ext uri="{9D8B030D-6E8A-4147-A177-3AD203B41FA5}">
                      <a16:colId xmlns:a16="http://schemas.microsoft.com/office/drawing/2014/main" val="2628016418"/>
                    </a:ext>
                  </a:extLst>
                </a:gridCol>
                <a:gridCol w="1223811">
                  <a:extLst>
                    <a:ext uri="{9D8B030D-6E8A-4147-A177-3AD203B41FA5}">
                      <a16:colId xmlns:a16="http://schemas.microsoft.com/office/drawing/2014/main" val="3259099230"/>
                    </a:ext>
                  </a:extLst>
                </a:gridCol>
              </a:tblGrid>
              <a:tr h="443788">
                <a:tc>
                  <a:txBody>
                    <a:bodyPr/>
                    <a:lstStyle/>
                    <a:p>
                      <a:pPr algn="ctr"/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Glee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Sleep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Rave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Serve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Stock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Stop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Unknown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3022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Glee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91.25 %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8.75 %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077235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Sleep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93.75 %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6.25 %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508018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Rave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92.5 %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7.5 %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933368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Serve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92.5 %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7.5 %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119275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Stock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90 %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1.25 %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8.75 %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312383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Stop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0.25 %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90 %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7.5 %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575901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Unknown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2.08 %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6.25 %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91.67 %</a:t>
                      </a:r>
                      <a:endParaRPr lang="zh-TW" altLang="en-US" sz="2000" b="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911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7325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341420"/>
              </p:ext>
            </p:extLst>
          </p:nvPr>
        </p:nvGraphicFramePr>
        <p:xfrm>
          <a:off x="1446416" y="473056"/>
          <a:ext cx="7535486" cy="2218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6498">
                  <a:extLst>
                    <a:ext uri="{9D8B030D-6E8A-4147-A177-3AD203B41FA5}">
                      <a16:colId xmlns:a16="http://schemas.microsoft.com/office/drawing/2014/main" val="1234951052"/>
                    </a:ext>
                  </a:extLst>
                </a:gridCol>
                <a:gridCol w="1076498">
                  <a:extLst>
                    <a:ext uri="{9D8B030D-6E8A-4147-A177-3AD203B41FA5}">
                      <a16:colId xmlns:a16="http://schemas.microsoft.com/office/drawing/2014/main" val="4293309711"/>
                    </a:ext>
                  </a:extLst>
                </a:gridCol>
                <a:gridCol w="1076498">
                  <a:extLst>
                    <a:ext uri="{9D8B030D-6E8A-4147-A177-3AD203B41FA5}">
                      <a16:colId xmlns:a16="http://schemas.microsoft.com/office/drawing/2014/main" val="3419869293"/>
                    </a:ext>
                  </a:extLst>
                </a:gridCol>
                <a:gridCol w="1076498">
                  <a:extLst>
                    <a:ext uri="{9D8B030D-6E8A-4147-A177-3AD203B41FA5}">
                      <a16:colId xmlns:a16="http://schemas.microsoft.com/office/drawing/2014/main" val="4202442514"/>
                    </a:ext>
                  </a:extLst>
                </a:gridCol>
                <a:gridCol w="1076498">
                  <a:extLst>
                    <a:ext uri="{9D8B030D-6E8A-4147-A177-3AD203B41FA5}">
                      <a16:colId xmlns:a16="http://schemas.microsoft.com/office/drawing/2014/main" val="1505740970"/>
                    </a:ext>
                  </a:extLst>
                </a:gridCol>
                <a:gridCol w="1076498">
                  <a:extLst>
                    <a:ext uri="{9D8B030D-6E8A-4147-A177-3AD203B41FA5}">
                      <a16:colId xmlns:a16="http://schemas.microsoft.com/office/drawing/2014/main" val="219286586"/>
                    </a:ext>
                  </a:extLst>
                </a:gridCol>
                <a:gridCol w="1076498">
                  <a:extLst>
                    <a:ext uri="{9D8B030D-6E8A-4147-A177-3AD203B41FA5}">
                      <a16:colId xmlns:a16="http://schemas.microsoft.com/office/drawing/2014/main" val="2628016418"/>
                    </a:ext>
                  </a:extLst>
                </a:gridCol>
              </a:tblGrid>
              <a:tr h="443788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Glee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Sleep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Rave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Serve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Stock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Stop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3022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MFCC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86.67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85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75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79.17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77.5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69.17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077235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IMFCC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76.67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76.67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74.17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74.17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76.67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64.17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508018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LFCC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94.17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90.83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83.33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86.67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82.5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80.83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933368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FFCC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94.17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95.83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95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95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85.83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83.33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119275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549040"/>
              </p:ext>
            </p:extLst>
          </p:nvPr>
        </p:nvGraphicFramePr>
        <p:xfrm>
          <a:off x="1379912" y="2844955"/>
          <a:ext cx="8017625" cy="32479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3525">
                  <a:extLst>
                    <a:ext uri="{9D8B030D-6E8A-4147-A177-3AD203B41FA5}">
                      <a16:colId xmlns:a16="http://schemas.microsoft.com/office/drawing/2014/main" val="1234951052"/>
                    </a:ext>
                  </a:extLst>
                </a:gridCol>
                <a:gridCol w="1603525">
                  <a:extLst>
                    <a:ext uri="{9D8B030D-6E8A-4147-A177-3AD203B41FA5}">
                      <a16:colId xmlns:a16="http://schemas.microsoft.com/office/drawing/2014/main" val="4293309711"/>
                    </a:ext>
                  </a:extLst>
                </a:gridCol>
                <a:gridCol w="1603525">
                  <a:extLst>
                    <a:ext uri="{9D8B030D-6E8A-4147-A177-3AD203B41FA5}">
                      <a16:colId xmlns:a16="http://schemas.microsoft.com/office/drawing/2014/main" val="3419869293"/>
                    </a:ext>
                  </a:extLst>
                </a:gridCol>
                <a:gridCol w="1603525">
                  <a:extLst>
                    <a:ext uri="{9D8B030D-6E8A-4147-A177-3AD203B41FA5}">
                      <a16:colId xmlns:a16="http://schemas.microsoft.com/office/drawing/2014/main" val="4202442514"/>
                    </a:ext>
                  </a:extLst>
                </a:gridCol>
                <a:gridCol w="1603525">
                  <a:extLst>
                    <a:ext uri="{9D8B030D-6E8A-4147-A177-3AD203B41FA5}">
                      <a16:colId xmlns:a16="http://schemas.microsoft.com/office/drawing/2014/main" val="1505740970"/>
                    </a:ext>
                  </a:extLst>
                </a:gridCol>
              </a:tblGrid>
              <a:tr h="443788"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EER (%)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MFCC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LFCC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IMFCC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FFCC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3022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20 speakers, 10 keywords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22.95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25.57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36.08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17.42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077235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30 speakers, 10 keywords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23.02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27.79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39.52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19.15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661299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40 speakers, 10 keywords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23.65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27.9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40.2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20.07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556350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50 speakers, 10 keywords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27.64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30.59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40.23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22.24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059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431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784495"/>
              </p:ext>
            </p:extLst>
          </p:nvPr>
        </p:nvGraphicFramePr>
        <p:xfrm>
          <a:off x="1396537" y="1489980"/>
          <a:ext cx="8017625" cy="18458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4641">
                  <a:extLst>
                    <a:ext uri="{9D8B030D-6E8A-4147-A177-3AD203B41FA5}">
                      <a16:colId xmlns:a16="http://schemas.microsoft.com/office/drawing/2014/main" val="1234951052"/>
                    </a:ext>
                  </a:extLst>
                </a:gridCol>
                <a:gridCol w="1295746">
                  <a:extLst>
                    <a:ext uri="{9D8B030D-6E8A-4147-A177-3AD203B41FA5}">
                      <a16:colId xmlns:a16="http://schemas.microsoft.com/office/drawing/2014/main" val="4293309711"/>
                    </a:ext>
                  </a:extLst>
                </a:gridCol>
                <a:gridCol w="1295746">
                  <a:extLst>
                    <a:ext uri="{9D8B030D-6E8A-4147-A177-3AD203B41FA5}">
                      <a16:colId xmlns:a16="http://schemas.microsoft.com/office/drawing/2014/main" val="3419869293"/>
                    </a:ext>
                  </a:extLst>
                </a:gridCol>
                <a:gridCol w="1295746">
                  <a:extLst>
                    <a:ext uri="{9D8B030D-6E8A-4147-A177-3AD203B41FA5}">
                      <a16:colId xmlns:a16="http://schemas.microsoft.com/office/drawing/2014/main" val="4202442514"/>
                    </a:ext>
                  </a:extLst>
                </a:gridCol>
                <a:gridCol w="1295746">
                  <a:extLst>
                    <a:ext uri="{9D8B030D-6E8A-4147-A177-3AD203B41FA5}">
                      <a16:colId xmlns:a16="http://schemas.microsoft.com/office/drawing/2014/main" val="1505740970"/>
                    </a:ext>
                  </a:extLst>
                </a:gridCol>
              </a:tblGrid>
              <a:tr h="443788"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EER (%)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MFCC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LFCC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IMFCC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FFCC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3022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Normalized</a:t>
                      </a:r>
                    </a:p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20 speakers, 10 keywords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22.95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25.57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36.08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17.42</a:t>
                      </a:r>
                      <a:endParaRPr lang="zh-TW" altLang="en-US" sz="2000" b="1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077235"/>
                  </a:ext>
                </a:extLst>
              </a:tr>
              <a:tr h="443788"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Unnormalized</a:t>
                      </a:r>
                      <a:endParaRPr lang="en-US" altLang="zh-TW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20 speakers, 10 keywords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24.95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27.8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37.87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20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20.2</a:t>
                      </a:r>
                      <a:endParaRPr lang="zh-TW" altLang="en-US" sz="20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661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099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359739"/>
              </p:ext>
            </p:extLst>
          </p:nvPr>
        </p:nvGraphicFramePr>
        <p:xfrm>
          <a:off x="1057275" y="113666"/>
          <a:ext cx="8475465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577">
                  <a:extLst>
                    <a:ext uri="{9D8B030D-6E8A-4147-A177-3AD203B41FA5}">
                      <a16:colId xmlns:a16="http://schemas.microsoft.com/office/drawing/2014/main" val="1234951052"/>
                    </a:ext>
                  </a:extLst>
                </a:gridCol>
                <a:gridCol w="1503878">
                  <a:extLst>
                    <a:ext uri="{9D8B030D-6E8A-4147-A177-3AD203B41FA5}">
                      <a16:colId xmlns:a16="http://schemas.microsoft.com/office/drawing/2014/main" val="569682905"/>
                    </a:ext>
                  </a:extLst>
                </a:gridCol>
                <a:gridCol w="1321277">
                  <a:extLst>
                    <a:ext uri="{9D8B030D-6E8A-4147-A177-3AD203B41FA5}">
                      <a16:colId xmlns:a16="http://schemas.microsoft.com/office/drawing/2014/main" val="4293309711"/>
                    </a:ext>
                  </a:extLst>
                </a:gridCol>
                <a:gridCol w="1980958">
                  <a:extLst>
                    <a:ext uri="{9D8B030D-6E8A-4147-A177-3AD203B41FA5}">
                      <a16:colId xmlns:a16="http://schemas.microsoft.com/office/drawing/2014/main" val="3419869293"/>
                    </a:ext>
                  </a:extLst>
                </a:gridCol>
                <a:gridCol w="1161960">
                  <a:extLst>
                    <a:ext uri="{9D8B030D-6E8A-4147-A177-3AD203B41FA5}">
                      <a16:colId xmlns:a16="http://schemas.microsoft.com/office/drawing/2014/main" val="4202442514"/>
                    </a:ext>
                  </a:extLst>
                </a:gridCol>
                <a:gridCol w="1094815">
                  <a:extLst>
                    <a:ext uri="{9D8B030D-6E8A-4147-A177-3AD203B41FA5}">
                      <a16:colId xmlns:a16="http://schemas.microsoft.com/office/drawing/2014/main" val="1554848041"/>
                    </a:ext>
                  </a:extLst>
                </a:gridCol>
              </a:tblGrid>
              <a:tr h="363537"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Data Set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Sub Set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Command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# Males</a:t>
                      </a:r>
                      <a:r>
                        <a:rPr kumimoji="0" lang="zh-TW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# </a:t>
                      </a: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Females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baseline="0" dirty="0">
                          <a:latin typeface="Times New Roman" panose="02020603050405020304" pitchFamily="18" charset="0"/>
                        </a:rPr>
                        <a:t>Samples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baseline="0" dirty="0">
                          <a:latin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3022"/>
                  </a:ext>
                </a:extLst>
              </a:tr>
              <a:tr h="363537">
                <a:tc rowSpan="3"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(a).RSR2015: </a:t>
                      </a:r>
                    </a:p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50 speakers, 10 keywords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Training Set 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24          24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5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2,400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077235"/>
                  </a:ext>
                </a:extLst>
              </a:tr>
              <a:tr h="363537">
                <a:tc vMerge="1"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baseline="0" dirty="0">
                          <a:latin typeface="Times New Roman" panose="02020603050405020304" pitchFamily="18" charset="0"/>
                        </a:rPr>
                        <a:t>Testing Set A 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1             1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9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180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8577032"/>
                  </a:ext>
                </a:extLst>
              </a:tr>
              <a:tr h="36353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baseline="0" dirty="0">
                          <a:latin typeface="Times New Roman" panose="02020603050405020304" pitchFamily="18" charset="0"/>
                        </a:rPr>
                        <a:t>Testing Set B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24          24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4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1,920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722501"/>
                  </a:ext>
                </a:extLst>
              </a:tr>
              <a:tr h="363537">
                <a:tc rowSpan="3"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(b).RSR2015:</a:t>
                      </a:r>
                    </a:p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40 speakers, 10 keywords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Training Set 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19          19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5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1,900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661299"/>
                  </a:ext>
                </a:extLst>
              </a:tr>
              <a:tr h="36353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baseline="0" dirty="0">
                          <a:latin typeface="Times New Roman" panose="02020603050405020304" pitchFamily="18" charset="0"/>
                        </a:rPr>
                        <a:t>Testing Set A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1             1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9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180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011848"/>
                  </a:ext>
                </a:extLst>
              </a:tr>
              <a:tr h="36353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baseline="0" dirty="0">
                          <a:latin typeface="Times New Roman" panose="02020603050405020304" pitchFamily="18" charset="0"/>
                        </a:rPr>
                        <a:t>Testing Set B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19          19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4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1,520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649677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530718"/>
              </p:ext>
            </p:extLst>
          </p:nvPr>
        </p:nvGraphicFramePr>
        <p:xfrm>
          <a:off x="1057275" y="4868546"/>
          <a:ext cx="8475465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577">
                  <a:extLst>
                    <a:ext uri="{9D8B030D-6E8A-4147-A177-3AD203B41FA5}">
                      <a16:colId xmlns:a16="http://schemas.microsoft.com/office/drawing/2014/main" val="1059546407"/>
                    </a:ext>
                  </a:extLst>
                </a:gridCol>
                <a:gridCol w="1503878">
                  <a:extLst>
                    <a:ext uri="{9D8B030D-6E8A-4147-A177-3AD203B41FA5}">
                      <a16:colId xmlns:a16="http://schemas.microsoft.com/office/drawing/2014/main" val="2834305357"/>
                    </a:ext>
                  </a:extLst>
                </a:gridCol>
                <a:gridCol w="1321277">
                  <a:extLst>
                    <a:ext uri="{9D8B030D-6E8A-4147-A177-3AD203B41FA5}">
                      <a16:colId xmlns:a16="http://schemas.microsoft.com/office/drawing/2014/main" val="370925488"/>
                    </a:ext>
                  </a:extLst>
                </a:gridCol>
                <a:gridCol w="1980958">
                  <a:extLst>
                    <a:ext uri="{9D8B030D-6E8A-4147-A177-3AD203B41FA5}">
                      <a16:colId xmlns:a16="http://schemas.microsoft.com/office/drawing/2014/main" val="2112507184"/>
                    </a:ext>
                  </a:extLst>
                </a:gridCol>
                <a:gridCol w="1161960">
                  <a:extLst>
                    <a:ext uri="{9D8B030D-6E8A-4147-A177-3AD203B41FA5}">
                      <a16:colId xmlns:a16="http://schemas.microsoft.com/office/drawing/2014/main" val="629199862"/>
                    </a:ext>
                  </a:extLst>
                </a:gridCol>
                <a:gridCol w="1094815">
                  <a:extLst>
                    <a:ext uri="{9D8B030D-6E8A-4147-A177-3AD203B41FA5}">
                      <a16:colId xmlns:a16="http://schemas.microsoft.com/office/drawing/2014/main" val="971551112"/>
                    </a:ext>
                  </a:extLst>
                </a:gridCol>
              </a:tblGrid>
              <a:tr h="363537">
                <a:tc rowSpan="3"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(e).SPW:</a:t>
                      </a:r>
                    </a:p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20 speakers, 6 keywords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Training Set 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6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14            2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5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480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333760"/>
                  </a:ext>
                </a:extLst>
              </a:tr>
              <a:tr h="363537">
                <a:tc vMerge="1"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baseline="0" dirty="0">
                          <a:latin typeface="Times New Roman" panose="02020603050405020304" pitchFamily="18" charset="0"/>
                        </a:rPr>
                        <a:t>Testing Set A 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6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2             2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240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160382"/>
                  </a:ext>
                </a:extLst>
              </a:tr>
              <a:tr h="36353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baseline="0" dirty="0">
                          <a:latin typeface="Times New Roman" panose="02020603050405020304" pitchFamily="18" charset="0"/>
                        </a:rPr>
                        <a:t>Testing Set B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6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14            2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5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480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80439546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044491"/>
              </p:ext>
            </p:extLst>
          </p:nvPr>
        </p:nvGraphicFramePr>
        <p:xfrm>
          <a:off x="1057275" y="2673986"/>
          <a:ext cx="8475465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577">
                  <a:extLst>
                    <a:ext uri="{9D8B030D-6E8A-4147-A177-3AD203B41FA5}">
                      <a16:colId xmlns:a16="http://schemas.microsoft.com/office/drawing/2014/main" val="1697341011"/>
                    </a:ext>
                  </a:extLst>
                </a:gridCol>
                <a:gridCol w="1502403">
                  <a:extLst>
                    <a:ext uri="{9D8B030D-6E8A-4147-A177-3AD203B41FA5}">
                      <a16:colId xmlns:a16="http://schemas.microsoft.com/office/drawing/2014/main" val="3059040257"/>
                    </a:ext>
                  </a:extLst>
                </a:gridCol>
                <a:gridCol w="1322752">
                  <a:extLst>
                    <a:ext uri="{9D8B030D-6E8A-4147-A177-3AD203B41FA5}">
                      <a16:colId xmlns:a16="http://schemas.microsoft.com/office/drawing/2014/main" val="1938866158"/>
                    </a:ext>
                  </a:extLst>
                </a:gridCol>
                <a:gridCol w="1980958">
                  <a:extLst>
                    <a:ext uri="{9D8B030D-6E8A-4147-A177-3AD203B41FA5}">
                      <a16:colId xmlns:a16="http://schemas.microsoft.com/office/drawing/2014/main" val="2818281953"/>
                    </a:ext>
                  </a:extLst>
                </a:gridCol>
                <a:gridCol w="1161960">
                  <a:extLst>
                    <a:ext uri="{9D8B030D-6E8A-4147-A177-3AD203B41FA5}">
                      <a16:colId xmlns:a16="http://schemas.microsoft.com/office/drawing/2014/main" val="1321824145"/>
                    </a:ext>
                  </a:extLst>
                </a:gridCol>
                <a:gridCol w="1094815">
                  <a:extLst>
                    <a:ext uri="{9D8B030D-6E8A-4147-A177-3AD203B41FA5}">
                      <a16:colId xmlns:a16="http://schemas.microsoft.com/office/drawing/2014/main" val="1444614849"/>
                    </a:ext>
                  </a:extLst>
                </a:gridCol>
              </a:tblGrid>
              <a:tr h="363537">
                <a:tc rowSpan="3"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(c).RSR2015:</a:t>
                      </a:r>
                    </a:p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30 speakers, 10 keywords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Training Set 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14          14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5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1,400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735179"/>
                  </a:ext>
                </a:extLst>
              </a:tr>
              <a:tr h="36353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baseline="0" dirty="0">
                          <a:latin typeface="Times New Roman" panose="02020603050405020304" pitchFamily="18" charset="0"/>
                        </a:rPr>
                        <a:t>Testing Set A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1             1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9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180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08527"/>
                  </a:ext>
                </a:extLst>
              </a:tr>
              <a:tr h="36353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baseline="0" dirty="0">
                          <a:latin typeface="Times New Roman" panose="02020603050405020304" pitchFamily="18" charset="0"/>
                        </a:rPr>
                        <a:t>Testing Set B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14          14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4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1,120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344545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293591"/>
              </p:ext>
            </p:extLst>
          </p:nvPr>
        </p:nvGraphicFramePr>
        <p:xfrm>
          <a:off x="1057275" y="3771266"/>
          <a:ext cx="8475465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577">
                  <a:extLst>
                    <a:ext uri="{9D8B030D-6E8A-4147-A177-3AD203B41FA5}">
                      <a16:colId xmlns:a16="http://schemas.microsoft.com/office/drawing/2014/main" val="1697341011"/>
                    </a:ext>
                  </a:extLst>
                </a:gridCol>
                <a:gridCol w="1503878">
                  <a:extLst>
                    <a:ext uri="{9D8B030D-6E8A-4147-A177-3AD203B41FA5}">
                      <a16:colId xmlns:a16="http://schemas.microsoft.com/office/drawing/2014/main" val="3059040257"/>
                    </a:ext>
                  </a:extLst>
                </a:gridCol>
                <a:gridCol w="1321277">
                  <a:extLst>
                    <a:ext uri="{9D8B030D-6E8A-4147-A177-3AD203B41FA5}">
                      <a16:colId xmlns:a16="http://schemas.microsoft.com/office/drawing/2014/main" val="1938866158"/>
                    </a:ext>
                  </a:extLst>
                </a:gridCol>
                <a:gridCol w="1980958">
                  <a:extLst>
                    <a:ext uri="{9D8B030D-6E8A-4147-A177-3AD203B41FA5}">
                      <a16:colId xmlns:a16="http://schemas.microsoft.com/office/drawing/2014/main" val="2818281953"/>
                    </a:ext>
                  </a:extLst>
                </a:gridCol>
                <a:gridCol w="1161960">
                  <a:extLst>
                    <a:ext uri="{9D8B030D-6E8A-4147-A177-3AD203B41FA5}">
                      <a16:colId xmlns:a16="http://schemas.microsoft.com/office/drawing/2014/main" val="1321824145"/>
                    </a:ext>
                  </a:extLst>
                </a:gridCol>
                <a:gridCol w="1094815">
                  <a:extLst>
                    <a:ext uri="{9D8B030D-6E8A-4147-A177-3AD203B41FA5}">
                      <a16:colId xmlns:a16="http://schemas.microsoft.com/office/drawing/2014/main" val="1444614849"/>
                    </a:ext>
                  </a:extLst>
                </a:gridCol>
              </a:tblGrid>
              <a:tr h="363537">
                <a:tc rowSpan="3"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(d).RSR2015:</a:t>
                      </a:r>
                    </a:p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20 speakers, 10 keywords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Training Set 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9             9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5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900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35179"/>
                  </a:ext>
                </a:extLst>
              </a:tr>
              <a:tr h="36353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baseline="0" dirty="0">
                          <a:latin typeface="Times New Roman" panose="02020603050405020304" pitchFamily="18" charset="0"/>
                        </a:rPr>
                        <a:t>Testing Set A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1             1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9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180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08527"/>
                  </a:ext>
                </a:extLst>
              </a:tr>
              <a:tr h="36353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baseline="0" dirty="0">
                          <a:latin typeface="Times New Roman" panose="02020603050405020304" pitchFamily="18" charset="0"/>
                        </a:rPr>
                        <a:t>Testing Set B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9             9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4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TW" sz="18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720</a:t>
                      </a:r>
                      <a:endParaRPr lang="zh-TW" altLang="en-US" sz="1800" b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45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998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979428"/>
              </p:ext>
            </p:extLst>
          </p:nvPr>
        </p:nvGraphicFramePr>
        <p:xfrm>
          <a:off x="931023" y="2157768"/>
          <a:ext cx="10257906" cy="321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651">
                  <a:extLst>
                    <a:ext uri="{9D8B030D-6E8A-4147-A177-3AD203B41FA5}">
                      <a16:colId xmlns:a16="http://schemas.microsoft.com/office/drawing/2014/main" val="2732539817"/>
                    </a:ext>
                  </a:extLst>
                </a:gridCol>
                <a:gridCol w="1709651">
                  <a:extLst>
                    <a:ext uri="{9D8B030D-6E8A-4147-A177-3AD203B41FA5}">
                      <a16:colId xmlns:a16="http://schemas.microsoft.com/office/drawing/2014/main" val="1248862695"/>
                    </a:ext>
                  </a:extLst>
                </a:gridCol>
                <a:gridCol w="1709651">
                  <a:extLst>
                    <a:ext uri="{9D8B030D-6E8A-4147-A177-3AD203B41FA5}">
                      <a16:colId xmlns:a16="http://schemas.microsoft.com/office/drawing/2014/main" val="119178878"/>
                    </a:ext>
                  </a:extLst>
                </a:gridCol>
                <a:gridCol w="1709651">
                  <a:extLst>
                    <a:ext uri="{9D8B030D-6E8A-4147-A177-3AD203B41FA5}">
                      <a16:colId xmlns:a16="http://schemas.microsoft.com/office/drawing/2014/main" val="3352124966"/>
                    </a:ext>
                  </a:extLst>
                </a:gridCol>
                <a:gridCol w="1709651">
                  <a:extLst>
                    <a:ext uri="{9D8B030D-6E8A-4147-A177-3AD203B41FA5}">
                      <a16:colId xmlns:a16="http://schemas.microsoft.com/office/drawing/2014/main" val="1485098435"/>
                    </a:ext>
                  </a:extLst>
                </a:gridCol>
                <a:gridCol w="1709651">
                  <a:extLst>
                    <a:ext uri="{9D8B030D-6E8A-4147-A177-3AD203B41FA5}">
                      <a16:colId xmlns:a16="http://schemas.microsoft.com/office/drawing/2014/main" val="660074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2/22(</a:t>
                      </a:r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大陸</a:t>
                      </a:r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2/23(</a:t>
                      </a:r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大陸</a:t>
                      </a:r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2/24(</a:t>
                      </a:r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香港</a:t>
                      </a:r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2/25(</a:t>
                      </a:r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香港</a:t>
                      </a:r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2/26(</a:t>
                      </a:r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香港</a:t>
                      </a:r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093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早上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海洋公園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654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中午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到香港 </a:t>
                      </a:r>
                      <a:endParaRPr lang="en-US" altLang="zh-TW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出發到珠海</a:t>
                      </a:r>
                      <a:endParaRPr lang="en-US" altLang="zh-TW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家裡吃飯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吃家附近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aseline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2783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下午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益健茶樓</a:t>
                      </a:r>
                      <a:endParaRPr lang="en-US" altLang="zh-TW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圓明園</a:t>
                      </a:r>
                      <a:endParaRPr lang="en-US" altLang="zh-TW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買菜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華發商都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回香港</a:t>
                      </a:r>
                      <a:endParaRPr lang="en-US" altLang="zh-TW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馬場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462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晚上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珠海夜市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華發商都</a:t>
                      </a:r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/</a:t>
                      </a:r>
                    </a:p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海納牛肉火鍋（全牛肉）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銅鑼灣</a:t>
                      </a:r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燉奶</a:t>
                      </a:r>
                      <a:r>
                        <a:rPr lang="en-US" altLang="zh-TW" sz="18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129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2103940"/>
      </p:ext>
    </p:extLst>
  </p:cSld>
  <p:clrMapOvr>
    <a:masterClrMapping/>
  </p:clrMapOvr>
</p:sld>
</file>

<file path=ppt/theme/theme1.xml><?xml version="1.0" encoding="utf-8"?>
<a:theme xmlns:a="http://schemas.openxmlformats.org/drawingml/2006/main" name="Wistron2016Template(16b9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70907嘉欣 NTUT Progress Report" id="{BAF8D164-B2ED-7D45-99AF-B474CEEEDE1D}" vid="{4E9B1D56-B1FE-EA41-81A4-87662840C32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20170907嘉欣 NTUT Progress Report</Template>
  <TotalTime>94721</TotalTime>
  <Words>888</Words>
  <Application>Microsoft Office PowerPoint</Application>
  <PresentationFormat>寬螢幕</PresentationFormat>
  <Paragraphs>459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微軟正黑體</vt:lpstr>
      <vt:lpstr>Arial</vt:lpstr>
      <vt:lpstr>Calibri</vt:lpstr>
      <vt:lpstr>Cambria Math</vt:lpstr>
      <vt:lpstr>Times New Roman</vt:lpstr>
      <vt:lpstr>Wistron2016Template(16b9)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Chia-Chun</dc:creator>
  <cp:lastModifiedBy>Jay</cp:lastModifiedBy>
  <cp:revision>265</cp:revision>
  <cp:lastPrinted>2017-10-31T09:15:26Z</cp:lastPrinted>
  <dcterms:created xsi:type="dcterms:W3CDTF">2017-09-07T11:55:25Z</dcterms:created>
  <dcterms:modified xsi:type="dcterms:W3CDTF">2019-08-22T09:54:54Z</dcterms:modified>
</cp:coreProperties>
</file>