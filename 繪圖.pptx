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2"/>
  </p:notesMasterIdLst>
  <p:sldIdLst>
    <p:sldId id="515" r:id="rId2"/>
    <p:sldId id="517" r:id="rId3"/>
    <p:sldId id="516" r:id="rId4"/>
    <p:sldId id="518" r:id="rId5"/>
    <p:sldId id="520" r:id="rId6"/>
    <p:sldId id="532" r:id="rId7"/>
    <p:sldId id="519" r:id="rId8"/>
    <p:sldId id="533" r:id="rId9"/>
    <p:sldId id="534" r:id="rId10"/>
    <p:sldId id="535" r:id="rId11"/>
  </p:sldIdLst>
  <p:sldSz cx="12192000" cy="6858000"/>
  <p:notesSz cx="6797675" cy="98742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5AD3DD4C-D69C-4BF6-98DE-5813E15EEDA6}">
          <p14:sldIdLst>
            <p14:sldId id="515"/>
            <p14:sldId id="517"/>
            <p14:sldId id="516"/>
            <p14:sldId id="518"/>
            <p14:sldId id="520"/>
            <p14:sldId id="532"/>
            <p14:sldId id="519"/>
            <p14:sldId id="533"/>
            <p14:sldId id="534"/>
            <p14:sldId id="5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F4B183"/>
    <a:srgbClr val="00B0F0"/>
    <a:srgbClr val="FF0000"/>
    <a:srgbClr val="C00000"/>
    <a:srgbClr val="FFC000"/>
    <a:srgbClr val="9F7800"/>
    <a:srgbClr val="92D050"/>
    <a:srgbClr val="00B050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424" autoAdjust="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542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542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16CA7D-1491-44CC-8095-7529C3F5D140}" type="datetimeFigureOut">
              <a:rPr lang="zh-TW" altLang="en-US" smtClean="0"/>
              <a:t>2018/10/29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5075"/>
            <a:ext cx="5924550" cy="33321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51982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1" y="9378825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378825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3070D-5EC0-461F-93D2-8F1858C96D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0007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5" y="2"/>
            <a:ext cx="12189391" cy="6861905"/>
          </a:xfrm>
          <a:prstGeom prst="rect">
            <a:avLst/>
          </a:prstGeom>
        </p:spPr>
      </p:pic>
      <p:sp>
        <p:nvSpPr>
          <p:cNvPr id="30723" name="Rectangle 3"/>
          <p:cNvSpPr>
            <a:spLocks noGrp="1" noChangeArrowheads="1"/>
          </p:cNvSpPr>
          <p:nvPr>
            <p:ph type="ctrTitle" sz="quarter" hasCustomPrompt="1"/>
          </p:nvPr>
        </p:nvSpPr>
        <p:spPr>
          <a:xfrm>
            <a:off x="4368800" y="3976302"/>
            <a:ext cx="7518400" cy="1846660"/>
          </a:xfrm>
        </p:spPr>
        <p:txBody>
          <a:bodyPr anchor="ctr"/>
          <a:lstStyle>
            <a:lvl1pPr>
              <a:defRPr sz="3733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altLang="zh-TW" dirty="0" smtClean="0"/>
              <a:t>Present’s Name</a:t>
            </a:r>
            <a:br>
              <a:rPr lang="en-US" altLang="zh-TW" dirty="0" smtClean="0"/>
            </a:br>
            <a:r>
              <a:rPr lang="en-US" altLang="zh-TW" dirty="0" smtClean="0"/>
              <a:t>Present’s Title</a:t>
            </a:r>
            <a:br>
              <a:rPr lang="en-US" altLang="zh-TW" dirty="0" smtClean="0"/>
            </a:br>
            <a:r>
              <a:rPr lang="en-US" altLang="zh-TW" dirty="0" smtClean="0"/>
              <a:t>Date</a:t>
            </a:r>
            <a:endParaRPr lang="en-US" altLang="zh-TW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401" y="297715"/>
            <a:ext cx="1774153" cy="3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05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7600" y="1228299"/>
            <a:ext cx="10566400" cy="4897865"/>
          </a:xfrm>
        </p:spPr>
        <p:txBody>
          <a:bodyPr/>
          <a:lstStyle>
            <a:lvl1pPr>
              <a:defRPr sz="2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 sz="2400"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 sz="2000"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 sz="1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 sz="1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 dirty="0"/>
          </a:p>
        </p:txBody>
      </p:sp>
      <p:sp>
        <p:nvSpPr>
          <p:cNvPr id="5" name="標題 4"/>
          <p:cNvSpPr>
            <a:spLocks noGrp="1"/>
          </p:cNvSpPr>
          <p:nvPr>
            <p:ph type="title"/>
          </p:nvPr>
        </p:nvSpPr>
        <p:spPr>
          <a:xfrm>
            <a:off x="1117600" y="279401"/>
            <a:ext cx="10566400" cy="707886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5892800" y="6477000"/>
            <a:ext cx="711200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74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17600" y="4406901"/>
            <a:ext cx="10363200" cy="943848"/>
          </a:xfrm>
        </p:spPr>
        <p:txBody>
          <a:bodyPr/>
          <a:lstStyle>
            <a:lvl1pPr algn="l">
              <a:defRPr sz="5333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117600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0330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1117600" y="1600201"/>
            <a:ext cx="50800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9974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17600" y="274638"/>
            <a:ext cx="104648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117600" y="1535113"/>
            <a:ext cx="5080000" cy="639763"/>
          </a:xfrm>
        </p:spPr>
        <p:txBody>
          <a:bodyPr anchor="b"/>
          <a:lstStyle>
            <a:lvl1pPr marL="0" indent="0">
              <a:buNone/>
              <a:defRPr sz="2933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1117600" y="2174875"/>
            <a:ext cx="5080000" cy="3951288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294968" y="1535113"/>
            <a:ext cx="5287433" cy="639763"/>
          </a:xfrm>
        </p:spPr>
        <p:txBody>
          <a:bodyPr anchor="b"/>
          <a:lstStyle>
            <a:lvl1pPr marL="0" indent="0">
              <a:buNone/>
              <a:defRPr sz="2933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294968" y="2174875"/>
            <a:ext cx="5287433" cy="3951288"/>
          </a:xfrm>
        </p:spPr>
        <p:txBody>
          <a:bodyPr/>
          <a:lstStyle>
            <a:lvl1pPr>
              <a:defRPr sz="2933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48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7964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747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117602" y="491252"/>
            <a:ext cx="3503084" cy="943848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482601"/>
            <a:ext cx="6815667" cy="5643564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117602" y="1435102"/>
            <a:ext cx="3503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571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64573"/>
            <a:ext cx="7315200" cy="502766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zh-TW" altLang="en-US" noProof="0" smtClean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869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2761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920408" y="228601"/>
            <a:ext cx="1661993" cy="5897563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1117600" y="228601"/>
            <a:ext cx="7569200" cy="5897563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11582402" y="6507163"/>
            <a:ext cx="488951" cy="381000"/>
          </a:xfrm>
        </p:spPr>
        <p:txBody>
          <a:bodyPr/>
          <a:lstStyle>
            <a:lvl1pPr>
              <a:defRPr/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9629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"/>
            <a:ext cx="12191997" cy="6859628"/>
          </a:xfrm>
          <a:prstGeom prst="rect">
            <a:avLst/>
          </a:prstGeom>
        </p:spPr>
      </p:pic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1117600" y="177801"/>
            <a:ext cx="10464800" cy="861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smtClean="0"/>
              <a:t>按一下以編輯母片標題樣式</a:t>
            </a:r>
            <a:endParaRPr lang="en-US" altLang="zh-TW" dirty="0" smtClean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1117600" y="1600201"/>
            <a:ext cx="10464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altLang="zh-TW" dirty="0" smtClean="0"/>
          </a:p>
        </p:txBody>
      </p:sp>
      <p:sp>
        <p:nvSpPr>
          <p:cNvPr id="29717" name="Rectangle 21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5638799" y="6500283"/>
            <a:ext cx="914400" cy="383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1" sz="1333">
                <a:solidFill>
                  <a:schemeClr val="tx1">
                    <a:lumMod val="65000"/>
                    <a:lumOff val="35000"/>
                  </a:schemeClr>
                </a:solidFill>
                <a:latin typeface="Arial" charset="0"/>
                <a:ea typeface="新細明體" charset="-120"/>
              </a:defRPr>
            </a:lvl1pPr>
          </a:lstStyle>
          <a:p>
            <a:fld id="{72EE2FBA-ACE2-4C23-9D6E-8AD0CD7FDE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468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 baseline="0">
          <a:solidFill>
            <a:srgbClr val="333333"/>
          </a:solidFill>
          <a:latin typeface="+mj-lt"/>
          <a:ea typeface="微軟正黑體" panose="020B0604030504040204" pitchFamily="34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rgbClr val="333333"/>
          </a:solidFill>
          <a:latin typeface="Arial" charset="0"/>
          <a:ea typeface="新細明體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rgbClr val="333333"/>
          </a:solidFill>
          <a:latin typeface="Arial" charset="0"/>
          <a:ea typeface="新細明體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rgbClr val="333333"/>
          </a:solidFill>
          <a:latin typeface="Arial" charset="0"/>
          <a:ea typeface="新細明體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267" b="1">
          <a:solidFill>
            <a:srgbClr val="333333"/>
          </a:solidFill>
          <a:latin typeface="Arial" charset="0"/>
          <a:ea typeface="新細明體" charset="-12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kumimoji="1" sz="4267">
          <a:solidFill>
            <a:srgbClr val="333333"/>
          </a:solidFill>
          <a:latin typeface="Arial" charset="0"/>
          <a:ea typeface="新細明體" charset="-12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kumimoji="1" sz="4267">
          <a:solidFill>
            <a:srgbClr val="333333"/>
          </a:solidFill>
          <a:latin typeface="Arial" charset="0"/>
          <a:ea typeface="新細明體" charset="-12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kumimoji="1" sz="4267">
          <a:solidFill>
            <a:srgbClr val="333333"/>
          </a:solidFill>
          <a:latin typeface="Arial" charset="0"/>
          <a:ea typeface="新細明體" charset="-12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kumimoji="1" sz="4267">
          <a:solidFill>
            <a:srgbClr val="333333"/>
          </a:solidFill>
          <a:latin typeface="Arial" charset="0"/>
          <a:ea typeface="新細明體" charset="-120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buChar char="•"/>
        <a:defRPr kumimoji="1" sz="4000" baseline="0">
          <a:solidFill>
            <a:srgbClr val="4D4D4D"/>
          </a:solidFill>
          <a:latin typeface="+mn-lt"/>
          <a:ea typeface="+mn-ea"/>
          <a:cs typeface="+mn-cs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Char char="–"/>
        <a:defRPr kumimoji="1" sz="3467" baseline="0">
          <a:solidFill>
            <a:srgbClr val="4D4D4D"/>
          </a:solidFill>
          <a:latin typeface="+mn-lt"/>
          <a:ea typeface="+mn-ea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har char="•"/>
        <a:defRPr kumimoji="1" sz="2933" baseline="0">
          <a:solidFill>
            <a:srgbClr val="4D4D4D"/>
          </a:solidFill>
          <a:latin typeface="+mn-lt"/>
          <a:ea typeface="+mn-ea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har char="–"/>
        <a:defRPr kumimoji="1" sz="2667" baseline="0">
          <a:solidFill>
            <a:srgbClr val="4D4D4D"/>
          </a:solidFill>
          <a:latin typeface="+mn-lt"/>
          <a:ea typeface="+mn-ea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har char="»"/>
        <a:defRPr kumimoji="1" sz="2667" baseline="0">
          <a:solidFill>
            <a:srgbClr val="4D4D4D"/>
          </a:solidFill>
          <a:latin typeface="+mn-lt"/>
          <a:ea typeface="+mn-ea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har char="»"/>
        <a:defRPr kumimoji="1" sz="2667">
          <a:solidFill>
            <a:srgbClr val="4D4D4D"/>
          </a:solidFill>
          <a:latin typeface="+mn-lt"/>
          <a:ea typeface="+mn-ea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har char="»"/>
        <a:defRPr kumimoji="1" sz="2667">
          <a:solidFill>
            <a:srgbClr val="4D4D4D"/>
          </a:solidFill>
          <a:latin typeface="+mn-lt"/>
          <a:ea typeface="+mn-ea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har char="»"/>
        <a:defRPr kumimoji="1" sz="2667">
          <a:solidFill>
            <a:srgbClr val="4D4D4D"/>
          </a:solidFill>
          <a:latin typeface="+mn-lt"/>
          <a:ea typeface="+mn-ea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har char="»"/>
        <a:defRPr kumimoji="1" sz="2667">
          <a:solidFill>
            <a:srgbClr val="4D4D4D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10.emf"/><Relationship Id="rId7" Type="http://schemas.openxmlformats.org/officeDocument/2006/relationships/image" Target="../media/image14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Relationship Id="rId9" Type="http://schemas.openxmlformats.org/officeDocument/2006/relationships/image" Target="../media/image16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922432" y="1430867"/>
            <a:ext cx="108547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/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目前新系統整體的運行時間比上次降低</a:t>
            </a:r>
            <a:r>
              <a:rPr lang="en-US" altLang="zh-TW" sz="2400" dirty="0" smtClean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0.3</a:t>
            </a:r>
            <a:r>
              <a:rPr lang="zh-TW" altLang="en-US" sz="2400" dirty="0" smtClean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秒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。主要是改良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Time </a:t>
            </a:r>
            <a:r>
              <a:rPr lang="en-US" altLang="zh-TW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Warping(DTW)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的運算時間，改良的方法是給予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有運算終止的條件，此條件是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運算最短路徑的距離中，距離值大於閥值，則終止計算。而閥值的設計是從</a:t>
            </a:r>
            <a:r>
              <a:rPr lang="en-US" altLang="zh-TW" sz="2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en-US" altLang="zh-TW" sz="2400" dirty="0" err="1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NN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個候選人中找尋最大的距離當作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閥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值。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/>
          <p:cNvSpPr txBox="1"/>
          <p:nvPr/>
        </p:nvSpPr>
        <p:spPr>
          <a:xfrm>
            <a:off x="922432" y="408561"/>
            <a:ext cx="6965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4000" b="1" dirty="0" smtClean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目前系統整體的運作時間</a:t>
            </a:r>
            <a:endParaRPr lang="en-US" altLang="zh-TW" sz="2800" b="1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圓角矩形 13"/>
          <p:cNvSpPr/>
          <p:nvPr/>
        </p:nvSpPr>
        <p:spPr bwMode="auto">
          <a:xfrm>
            <a:off x="922432" y="4438897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測試音檔</a:t>
            </a:r>
          </a:p>
        </p:txBody>
      </p:sp>
      <p:sp>
        <p:nvSpPr>
          <p:cNvPr id="17" name="圓角矩形 16"/>
          <p:cNvSpPr/>
          <p:nvPr/>
        </p:nvSpPr>
        <p:spPr bwMode="auto">
          <a:xfrm>
            <a:off x="3169267" y="3000527"/>
            <a:ext cx="7209746" cy="34859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流程圖: 磁碟 18"/>
          <p:cNvSpPr/>
          <p:nvPr/>
        </p:nvSpPr>
        <p:spPr bwMode="auto">
          <a:xfrm>
            <a:off x="3456082" y="5469855"/>
            <a:ext cx="1350560" cy="904875"/>
          </a:xfrm>
          <a:prstGeom prst="flowChartMagneticDisk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語者字詞</a:t>
            </a:r>
            <a:endParaRPr kumimoji="0" lang="en-US" altLang="zh-TW" sz="1800" b="0" i="0" u="none" strike="noStrike" cap="none" normalizeH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</a:t>
            </a:r>
          </a:p>
        </p:txBody>
      </p:sp>
      <p:sp>
        <p:nvSpPr>
          <p:cNvPr id="20" name="文字方塊 19"/>
          <p:cNvSpPr txBox="1"/>
          <p:nvPr/>
        </p:nvSpPr>
        <p:spPr>
          <a:xfrm>
            <a:off x="8712602" y="3005198"/>
            <a:ext cx="1179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err="1"/>
              <a:t>k</a:t>
            </a:r>
            <a:r>
              <a:rPr lang="en-US" altLang="zh-TW" dirty="0" err="1" smtClean="0"/>
              <a:t>NN</a:t>
            </a:r>
            <a:endParaRPr lang="zh-TW" altLang="en-US" dirty="0"/>
          </a:p>
        </p:txBody>
      </p:sp>
      <p:sp>
        <p:nvSpPr>
          <p:cNvPr id="21" name="圓角矩形 20"/>
          <p:cNvSpPr/>
          <p:nvPr/>
        </p:nvSpPr>
        <p:spPr bwMode="auto">
          <a:xfrm>
            <a:off x="3456082" y="4438897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23" name="直線單箭頭接點 22"/>
          <p:cNvCxnSpPr>
            <a:stCxn id="19" idx="1"/>
          </p:cNvCxnSpPr>
          <p:nvPr/>
        </p:nvCxnSpPr>
        <p:spPr bwMode="auto">
          <a:xfrm flipV="1">
            <a:off x="4131362" y="5038972"/>
            <a:ext cx="0" cy="430883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直線單箭頭接點 15"/>
          <p:cNvCxnSpPr/>
          <p:nvPr/>
        </p:nvCxnSpPr>
        <p:spPr bwMode="auto">
          <a:xfrm flipV="1">
            <a:off x="2426637" y="4738934"/>
            <a:ext cx="1029445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菱形 25"/>
          <p:cNvSpPr/>
          <p:nvPr/>
        </p:nvSpPr>
        <p:spPr bwMode="auto">
          <a:xfrm>
            <a:off x="5133403" y="4179984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距離是否大於閥值</a:t>
            </a:r>
          </a:p>
        </p:txBody>
      </p:sp>
      <p:sp>
        <p:nvSpPr>
          <p:cNvPr id="27" name="圓角矩形 26"/>
          <p:cNvSpPr/>
          <p:nvPr/>
        </p:nvSpPr>
        <p:spPr bwMode="auto">
          <a:xfrm>
            <a:off x="3456081" y="3476872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閥值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29" name="直線單箭頭接點 28"/>
          <p:cNvCxnSpPr>
            <a:stCxn id="27" idx="2"/>
            <a:endCxn id="21" idx="0"/>
          </p:cNvCxnSpPr>
          <p:nvPr/>
        </p:nvCxnSpPr>
        <p:spPr bwMode="auto">
          <a:xfrm>
            <a:off x="4114053" y="4076947"/>
            <a:ext cx="1" cy="3619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圓角矩形 30"/>
          <p:cNvSpPr/>
          <p:nvPr/>
        </p:nvSpPr>
        <p:spPr bwMode="auto">
          <a:xfrm>
            <a:off x="5261530" y="3476871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更新閥值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33" name="直線單箭頭接點 32"/>
          <p:cNvCxnSpPr>
            <a:stCxn id="31" idx="1"/>
          </p:cNvCxnSpPr>
          <p:nvPr/>
        </p:nvCxnSpPr>
        <p:spPr bwMode="auto">
          <a:xfrm flipH="1">
            <a:off x="4806642" y="3776909"/>
            <a:ext cx="454888" cy="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菱形 33"/>
          <p:cNvSpPr/>
          <p:nvPr/>
        </p:nvSpPr>
        <p:spPr bwMode="auto">
          <a:xfrm>
            <a:off x="6970808" y="3172194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是否為最後一筆資料庫</a:t>
            </a:r>
          </a:p>
        </p:txBody>
      </p:sp>
      <p:cxnSp>
        <p:nvCxnSpPr>
          <p:cNvPr id="36" name="直線單箭頭接點 35"/>
          <p:cNvCxnSpPr>
            <a:stCxn id="26" idx="3"/>
            <a:endCxn id="34" idx="2"/>
          </p:cNvCxnSpPr>
          <p:nvPr/>
        </p:nvCxnSpPr>
        <p:spPr bwMode="auto">
          <a:xfrm flipV="1">
            <a:off x="7305674" y="4381622"/>
            <a:ext cx="751270" cy="403076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9" name="直線單箭頭接點 38"/>
          <p:cNvCxnSpPr>
            <a:stCxn id="34" idx="1"/>
            <a:endCxn id="31" idx="3"/>
          </p:cNvCxnSpPr>
          <p:nvPr/>
        </p:nvCxnSpPr>
        <p:spPr bwMode="auto">
          <a:xfrm flipH="1">
            <a:off x="6577473" y="3776908"/>
            <a:ext cx="393335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2" name="菱形 41"/>
          <p:cNvSpPr/>
          <p:nvPr/>
        </p:nvSpPr>
        <p:spPr bwMode="auto">
          <a:xfrm>
            <a:off x="7005426" y="5029694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R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是否為最後一筆資料庫</a:t>
            </a:r>
          </a:p>
        </p:txBody>
      </p:sp>
      <p:cxnSp>
        <p:nvCxnSpPr>
          <p:cNvPr id="46" name="直線單箭頭接點 45"/>
          <p:cNvCxnSpPr>
            <a:endCxn id="26" idx="1"/>
          </p:cNvCxnSpPr>
          <p:nvPr/>
        </p:nvCxnSpPr>
        <p:spPr bwMode="auto">
          <a:xfrm>
            <a:off x="4806642" y="4782291"/>
            <a:ext cx="326761" cy="2407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8" name="直線接點 47"/>
          <p:cNvCxnSpPr/>
          <p:nvPr/>
        </p:nvCxnSpPr>
        <p:spPr bwMode="auto">
          <a:xfrm>
            <a:off x="8091562" y="6239122"/>
            <a:ext cx="0" cy="380753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直線接點 49"/>
          <p:cNvCxnSpPr/>
          <p:nvPr/>
        </p:nvCxnSpPr>
        <p:spPr bwMode="auto">
          <a:xfrm flipH="1">
            <a:off x="2905125" y="6657975"/>
            <a:ext cx="5186437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" name="直線單箭頭接點 51"/>
          <p:cNvCxnSpPr/>
          <p:nvPr/>
        </p:nvCxnSpPr>
        <p:spPr bwMode="auto">
          <a:xfrm flipV="1">
            <a:off x="2905125" y="4738934"/>
            <a:ext cx="0" cy="188094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文字方塊 52"/>
          <p:cNvSpPr txBox="1"/>
          <p:nvPr/>
        </p:nvSpPr>
        <p:spPr>
          <a:xfrm>
            <a:off x="6348873" y="5204746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 smtClean="0"/>
              <a:t>是</a:t>
            </a:r>
            <a:endParaRPr lang="zh-TW" altLang="en-US" dirty="0"/>
          </a:p>
        </p:txBody>
      </p:sp>
      <p:sp>
        <p:nvSpPr>
          <p:cNvPr id="54" name="文字方塊 53"/>
          <p:cNvSpPr txBox="1"/>
          <p:nvPr/>
        </p:nvSpPr>
        <p:spPr>
          <a:xfrm>
            <a:off x="7299719" y="4212333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cxnSp>
        <p:nvCxnSpPr>
          <p:cNvPr id="56" name="直線接點 55"/>
          <p:cNvCxnSpPr>
            <a:stCxn id="26" idx="2"/>
          </p:cNvCxnSpPr>
          <p:nvPr/>
        </p:nvCxnSpPr>
        <p:spPr bwMode="auto">
          <a:xfrm flipH="1">
            <a:off x="6219538" y="5389412"/>
            <a:ext cx="1" cy="244996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直線單箭頭接點 57"/>
          <p:cNvCxnSpPr>
            <a:endCxn id="42" idx="1"/>
          </p:cNvCxnSpPr>
          <p:nvPr/>
        </p:nvCxnSpPr>
        <p:spPr bwMode="auto">
          <a:xfrm>
            <a:off x="6228391" y="5632438"/>
            <a:ext cx="777035" cy="197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0" name="文字方塊 59"/>
          <p:cNvSpPr txBox="1"/>
          <p:nvPr/>
        </p:nvSpPr>
        <p:spPr>
          <a:xfrm>
            <a:off x="7653090" y="6116174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sp>
        <p:nvSpPr>
          <p:cNvPr id="66" name="文字方塊 65"/>
          <p:cNvSpPr txBox="1"/>
          <p:nvPr/>
        </p:nvSpPr>
        <p:spPr>
          <a:xfrm>
            <a:off x="6776826" y="3315244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sp>
        <p:nvSpPr>
          <p:cNvPr id="67" name="圓角矩形 66"/>
          <p:cNvSpPr/>
          <p:nvPr/>
        </p:nvSpPr>
        <p:spPr bwMode="auto">
          <a:xfrm>
            <a:off x="10566473" y="4281627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個候選人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1" name="直線單箭頭接點 70"/>
          <p:cNvCxnSpPr>
            <a:endCxn id="67" idx="1"/>
          </p:cNvCxnSpPr>
          <p:nvPr/>
        </p:nvCxnSpPr>
        <p:spPr bwMode="auto">
          <a:xfrm>
            <a:off x="9177697" y="4581664"/>
            <a:ext cx="1388776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圓角矩形 34"/>
          <p:cNvSpPr/>
          <p:nvPr/>
        </p:nvSpPr>
        <p:spPr bwMode="auto">
          <a:xfrm>
            <a:off x="8879540" y="4281627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找尋最近的</a:t>
            </a:r>
            <a:r>
              <a:rPr lang="en-US" altLang="zh-TW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zh-TW" altLang="en-US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個距離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5" name="直線單箭頭接點 4"/>
          <p:cNvCxnSpPr>
            <a:endCxn id="35" idx="0"/>
          </p:cNvCxnSpPr>
          <p:nvPr/>
        </p:nvCxnSpPr>
        <p:spPr bwMode="auto">
          <a:xfrm>
            <a:off x="9177697" y="3776908"/>
            <a:ext cx="359815" cy="504719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0" name="文字方塊 39"/>
          <p:cNvSpPr txBox="1"/>
          <p:nvPr/>
        </p:nvSpPr>
        <p:spPr>
          <a:xfrm>
            <a:off x="9301158" y="3651218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 smtClean="0"/>
              <a:t>是</a:t>
            </a:r>
            <a:endParaRPr lang="zh-TW" altLang="en-US" dirty="0"/>
          </a:p>
        </p:txBody>
      </p:sp>
      <p:cxnSp>
        <p:nvCxnSpPr>
          <p:cNvPr id="7" name="直線單箭頭接點 6"/>
          <p:cNvCxnSpPr>
            <a:stCxn id="42" idx="3"/>
            <a:endCxn id="35" idx="2"/>
          </p:cNvCxnSpPr>
          <p:nvPr/>
        </p:nvCxnSpPr>
        <p:spPr bwMode="auto">
          <a:xfrm flipV="1">
            <a:off x="9177697" y="4881702"/>
            <a:ext cx="359815" cy="752706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654350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圓角矩形 3"/>
          <p:cNvSpPr/>
          <p:nvPr/>
        </p:nvSpPr>
        <p:spPr bwMode="auto">
          <a:xfrm>
            <a:off x="3039913" y="156789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測試音檔</a:t>
            </a:r>
          </a:p>
        </p:txBody>
      </p:sp>
      <p:sp>
        <p:nvSpPr>
          <p:cNvPr id="6" name="流程圖: 磁碟 5"/>
          <p:cNvSpPr/>
          <p:nvPr/>
        </p:nvSpPr>
        <p:spPr bwMode="auto">
          <a:xfrm>
            <a:off x="7043343" y="5747406"/>
            <a:ext cx="1350560" cy="904875"/>
          </a:xfrm>
          <a:prstGeom prst="flowChartMagneticDisk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語者字詞</a:t>
            </a:r>
            <a:endParaRPr kumimoji="0" lang="en-US" altLang="zh-TW" sz="1800" b="0" i="0" u="none" strike="noStrike" cap="none" normalizeH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資料庫</a:t>
            </a:r>
          </a:p>
        </p:txBody>
      </p:sp>
      <p:sp>
        <p:nvSpPr>
          <p:cNvPr id="7" name="文字方塊 6"/>
          <p:cNvSpPr txBox="1"/>
          <p:nvPr/>
        </p:nvSpPr>
        <p:spPr>
          <a:xfrm>
            <a:off x="8712602" y="3005198"/>
            <a:ext cx="1179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err="1"/>
              <a:t>k</a:t>
            </a:r>
            <a:r>
              <a:rPr lang="en-US" altLang="zh-TW" dirty="0" err="1" smtClean="0"/>
              <a:t>NN</a:t>
            </a:r>
            <a:endParaRPr lang="zh-TW" altLang="en-US" dirty="0"/>
          </a:p>
        </p:txBody>
      </p:sp>
      <p:sp>
        <p:nvSpPr>
          <p:cNvPr id="8" name="圓角矩形 7"/>
          <p:cNvSpPr/>
          <p:nvPr/>
        </p:nvSpPr>
        <p:spPr bwMode="auto">
          <a:xfrm>
            <a:off x="7043343" y="4716448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9" name="直線單箭頭接點 8"/>
          <p:cNvCxnSpPr>
            <a:stCxn id="6" idx="1"/>
          </p:cNvCxnSpPr>
          <p:nvPr/>
        </p:nvCxnSpPr>
        <p:spPr bwMode="auto">
          <a:xfrm flipV="1">
            <a:off x="7718623" y="5316523"/>
            <a:ext cx="0" cy="430883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/>
          <p:cNvCxnSpPr/>
          <p:nvPr/>
        </p:nvCxnSpPr>
        <p:spPr bwMode="auto">
          <a:xfrm flipV="1">
            <a:off x="6013898" y="5016485"/>
            <a:ext cx="1029445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菱形 10"/>
          <p:cNvSpPr/>
          <p:nvPr/>
        </p:nvSpPr>
        <p:spPr bwMode="auto">
          <a:xfrm>
            <a:off x="8720664" y="4457535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距離是否大於閥值</a:t>
            </a:r>
          </a:p>
        </p:txBody>
      </p:sp>
      <p:sp>
        <p:nvSpPr>
          <p:cNvPr id="12" name="圓角矩形 11"/>
          <p:cNvSpPr/>
          <p:nvPr/>
        </p:nvSpPr>
        <p:spPr bwMode="auto">
          <a:xfrm>
            <a:off x="7043342" y="3754423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閥值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3" name="直線單箭頭接點 12"/>
          <p:cNvCxnSpPr>
            <a:stCxn id="12" idx="2"/>
            <a:endCxn id="8" idx="0"/>
          </p:cNvCxnSpPr>
          <p:nvPr/>
        </p:nvCxnSpPr>
        <p:spPr bwMode="auto">
          <a:xfrm>
            <a:off x="7701314" y="4354498"/>
            <a:ext cx="1" cy="36195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圓角矩形 13"/>
          <p:cNvSpPr/>
          <p:nvPr/>
        </p:nvSpPr>
        <p:spPr bwMode="auto">
          <a:xfrm>
            <a:off x="8848791" y="3754422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更新閥值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/>
          <p:cNvCxnSpPr>
            <a:stCxn id="14" idx="1"/>
          </p:cNvCxnSpPr>
          <p:nvPr/>
        </p:nvCxnSpPr>
        <p:spPr bwMode="auto">
          <a:xfrm flipH="1">
            <a:off x="8393903" y="4054460"/>
            <a:ext cx="454888" cy="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菱形 15"/>
          <p:cNvSpPr/>
          <p:nvPr/>
        </p:nvSpPr>
        <p:spPr bwMode="auto">
          <a:xfrm>
            <a:off x="10558069" y="3449745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是否為最後一筆資料庫</a:t>
            </a:r>
          </a:p>
        </p:txBody>
      </p:sp>
      <p:cxnSp>
        <p:nvCxnSpPr>
          <p:cNvPr id="17" name="直線單箭頭接點 16"/>
          <p:cNvCxnSpPr>
            <a:stCxn id="11" idx="3"/>
            <a:endCxn id="16" idx="2"/>
          </p:cNvCxnSpPr>
          <p:nvPr/>
        </p:nvCxnSpPr>
        <p:spPr bwMode="auto">
          <a:xfrm flipV="1">
            <a:off x="10892935" y="4659173"/>
            <a:ext cx="751270" cy="403076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直線單箭頭接點 17"/>
          <p:cNvCxnSpPr>
            <a:stCxn id="16" idx="1"/>
            <a:endCxn id="14" idx="3"/>
          </p:cNvCxnSpPr>
          <p:nvPr/>
        </p:nvCxnSpPr>
        <p:spPr bwMode="auto">
          <a:xfrm flipH="1">
            <a:off x="10164734" y="4054459"/>
            <a:ext cx="393335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菱形 18"/>
          <p:cNvSpPr/>
          <p:nvPr/>
        </p:nvSpPr>
        <p:spPr bwMode="auto">
          <a:xfrm>
            <a:off x="10592687" y="5307245"/>
            <a:ext cx="2172271" cy="1209428"/>
          </a:xfrm>
          <a:prstGeom prst="diamon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R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是否為最後一筆資料庫</a:t>
            </a:r>
          </a:p>
        </p:txBody>
      </p:sp>
      <p:cxnSp>
        <p:nvCxnSpPr>
          <p:cNvPr id="20" name="直線單箭頭接點 19"/>
          <p:cNvCxnSpPr>
            <a:endCxn id="11" idx="1"/>
          </p:cNvCxnSpPr>
          <p:nvPr/>
        </p:nvCxnSpPr>
        <p:spPr bwMode="auto">
          <a:xfrm>
            <a:off x="8393903" y="5059842"/>
            <a:ext cx="326761" cy="2407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接點 20"/>
          <p:cNvCxnSpPr/>
          <p:nvPr/>
        </p:nvCxnSpPr>
        <p:spPr bwMode="auto">
          <a:xfrm>
            <a:off x="11678823" y="6516673"/>
            <a:ext cx="0" cy="380753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/>
          <p:cNvCxnSpPr/>
          <p:nvPr/>
        </p:nvCxnSpPr>
        <p:spPr bwMode="auto">
          <a:xfrm flipH="1">
            <a:off x="6492386" y="6935526"/>
            <a:ext cx="5186437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直線單箭頭接點 22"/>
          <p:cNvCxnSpPr/>
          <p:nvPr/>
        </p:nvCxnSpPr>
        <p:spPr bwMode="auto">
          <a:xfrm flipV="1">
            <a:off x="6492386" y="5016485"/>
            <a:ext cx="0" cy="188094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4" name="文字方塊 23"/>
          <p:cNvSpPr txBox="1"/>
          <p:nvPr/>
        </p:nvSpPr>
        <p:spPr>
          <a:xfrm>
            <a:off x="9936134" y="5482297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 smtClean="0"/>
              <a:t>是</a:t>
            </a:r>
            <a:endParaRPr lang="zh-TW" altLang="en-US" dirty="0"/>
          </a:p>
        </p:txBody>
      </p:sp>
      <p:sp>
        <p:nvSpPr>
          <p:cNvPr id="25" name="文字方塊 24"/>
          <p:cNvSpPr txBox="1"/>
          <p:nvPr/>
        </p:nvSpPr>
        <p:spPr>
          <a:xfrm>
            <a:off x="10886980" y="4489884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cxnSp>
        <p:nvCxnSpPr>
          <p:cNvPr id="26" name="直線接點 25"/>
          <p:cNvCxnSpPr>
            <a:stCxn id="11" idx="2"/>
          </p:cNvCxnSpPr>
          <p:nvPr/>
        </p:nvCxnSpPr>
        <p:spPr bwMode="auto">
          <a:xfrm flipH="1">
            <a:off x="9806799" y="5666963"/>
            <a:ext cx="1" cy="244996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直線單箭頭接點 26"/>
          <p:cNvCxnSpPr>
            <a:endCxn id="19" idx="1"/>
          </p:cNvCxnSpPr>
          <p:nvPr/>
        </p:nvCxnSpPr>
        <p:spPr bwMode="auto">
          <a:xfrm>
            <a:off x="9815652" y="5909989"/>
            <a:ext cx="777035" cy="1970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8" name="文字方塊 27"/>
          <p:cNvSpPr txBox="1"/>
          <p:nvPr/>
        </p:nvSpPr>
        <p:spPr>
          <a:xfrm>
            <a:off x="11240351" y="6393725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sp>
        <p:nvSpPr>
          <p:cNvPr id="29" name="文字方塊 28"/>
          <p:cNvSpPr txBox="1"/>
          <p:nvPr/>
        </p:nvSpPr>
        <p:spPr>
          <a:xfrm>
            <a:off x="10364087" y="3592795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zh-TW" altLang="en-US" dirty="0"/>
              <a:t>否</a:t>
            </a:r>
          </a:p>
        </p:txBody>
      </p:sp>
      <p:sp>
        <p:nvSpPr>
          <p:cNvPr id="30" name="圓角矩形 29"/>
          <p:cNvSpPr/>
          <p:nvPr/>
        </p:nvSpPr>
        <p:spPr bwMode="auto">
          <a:xfrm>
            <a:off x="14153734" y="4559178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zh-TW" altLang="en-US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個候選人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31" name="直線單箭頭接點 30"/>
          <p:cNvCxnSpPr>
            <a:endCxn id="30" idx="1"/>
          </p:cNvCxnSpPr>
          <p:nvPr/>
        </p:nvCxnSpPr>
        <p:spPr bwMode="auto">
          <a:xfrm>
            <a:off x="12764958" y="4859215"/>
            <a:ext cx="1388776" cy="1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2" name="圓角矩形 31"/>
          <p:cNvSpPr/>
          <p:nvPr/>
        </p:nvSpPr>
        <p:spPr bwMode="auto">
          <a:xfrm>
            <a:off x="12466801" y="4559178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TW" altLang="en-US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找尋最近的</a:t>
            </a:r>
            <a:r>
              <a:rPr lang="en-US" altLang="zh-TW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zh-TW" altLang="en-US" sz="1600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個距離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33" name="直線單箭頭接點 32"/>
          <p:cNvCxnSpPr>
            <a:endCxn id="32" idx="0"/>
          </p:cNvCxnSpPr>
          <p:nvPr/>
        </p:nvCxnSpPr>
        <p:spPr bwMode="auto">
          <a:xfrm>
            <a:off x="12764958" y="4054459"/>
            <a:ext cx="359815" cy="504719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文字方塊 33"/>
          <p:cNvSpPr txBox="1"/>
          <p:nvPr/>
        </p:nvSpPr>
        <p:spPr>
          <a:xfrm>
            <a:off x="12888419" y="3928769"/>
            <a:ext cx="228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 smtClean="0"/>
              <a:t>是</a:t>
            </a:r>
            <a:endParaRPr lang="zh-TW" altLang="en-US" dirty="0"/>
          </a:p>
        </p:txBody>
      </p:sp>
      <p:cxnSp>
        <p:nvCxnSpPr>
          <p:cNvPr id="35" name="直線單箭頭接點 34"/>
          <p:cNvCxnSpPr>
            <a:stCxn id="19" idx="3"/>
            <a:endCxn id="32" idx="2"/>
          </p:cNvCxnSpPr>
          <p:nvPr/>
        </p:nvCxnSpPr>
        <p:spPr bwMode="auto">
          <a:xfrm flipV="1">
            <a:off x="12764958" y="5159253"/>
            <a:ext cx="359815" cy="752706"/>
          </a:xfrm>
          <a:prstGeom prst="straightConnector1">
            <a:avLst/>
          </a:prstGeom>
          <a:solidFill>
            <a:schemeClr val="accent1"/>
          </a:solidFill>
          <a:ln w="762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7" name="直線單箭頭接點 36"/>
          <p:cNvCxnSpPr/>
          <p:nvPr/>
        </p:nvCxnSpPr>
        <p:spPr bwMode="auto">
          <a:xfrm>
            <a:off x="3697883" y="756864"/>
            <a:ext cx="0" cy="350713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圓角矩形 38"/>
          <p:cNvSpPr/>
          <p:nvPr/>
        </p:nvSpPr>
        <p:spPr bwMode="auto">
          <a:xfrm>
            <a:off x="3039912" y="2045885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DTW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0" name="流程圖: 磁碟 39"/>
          <p:cNvSpPr/>
          <p:nvPr/>
        </p:nvSpPr>
        <p:spPr bwMode="auto">
          <a:xfrm>
            <a:off x="1351881" y="1943187"/>
            <a:ext cx="1123100" cy="752477"/>
          </a:xfrm>
          <a:prstGeom prst="flowChartMagneticDisk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Datab</a:t>
            </a:r>
            <a:r>
              <a:rPr kumimoji="0" lang="en-US" altLang="zh-TW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ase</a:t>
            </a:r>
          </a:p>
        </p:txBody>
      </p:sp>
      <p:cxnSp>
        <p:nvCxnSpPr>
          <p:cNvPr id="42" name="直線單箭頭接點 41"/>
          <p:cNvCxnSpPr/>
          <p:nvPr/>
        </p:nvCxnSpPr>
        <p:spPr bwMode="auto">
          <a:xfrm>
            <a:off x="2474981" y="2319426"/>
            <a:ext cx="514722" cy="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3" name="圓角矩形 42"/>
          <p:cNvSpPr/>
          <p:nvPr/>
        </p:nvSpPr>
        <p:spPr bwMode="auto">
          <a:xfrm>
            <a:off x="3039912" y="2992720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Threshold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47" name="直線單箭頭接點 46"/>
          <p:cNvCxnSpPr/>
          <p:nvPr/>
        </p:nvCxnSpPr>
        <p:spPr bwMode="auto">
          <a:xfrm flipH="1">
            <a:off x="14153734" y="6708808"/>
            <a:ext cx="514722" cy="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0" name="直線單箭頭接點 49"/>
          <p:cNvCxnSpPr/>
          <p:nvPr/>
        </p:nvCxnSpPr>
        <p:spPr bwMode="auto">
          <a:xfrm>
            <a:off x="3684376" y="2645960"/>
            <a:ext cx="0" cy="350713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圓角矩形 52"/>
          <p:cNvSpPr/>
          <p:nvPr/>
        </p:nvSpPr>
        <p:spPr bwMode="auto">
          <a:xfrm>
            <a:off x="3039912" y="1103765"/>
            <a:ext cx="1315943" cy="600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</a:t>
            </a:r>
            <a:r>
              <a:rPr lang="en-US" altLang="zh-TW" dirty="0" smtClean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= 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54" name="直線單箭頭接點 53"/>
          <p:cNvCxnSpPr/>
          <p:nvPr/>
        </p:nvCxnSpPr>
        <p:spPr bwMode="auto">
          <a:xfrm>
            <a:off x="3697883" y="1688627"/>
            <a:ext cx="0" cy="350713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911217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/>
          <p:cNvSpPr txBox="1"/>
          <p:nvPr/>
        </p:nvSpPr>
        <p:spPr>
          <a:xfrm>
            <a:off x="922432" y="1430867"/>
            <a:ext cx="1085470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AutoNum type="arabicPeriod"/>
            </a:pP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將平行運算運用在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ASR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，提高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ASR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的辨識速度。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利用平行運算運用在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VAD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與辨識系統。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優化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Beamforming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視窗化切割。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優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化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VAD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參數。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完成適應性的</a:t>
            </a:r>
            <a:r>
              <a:rPr lang="en-US" altLang="zh-TW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ASR</a:t>
            </a:r>
            <a:r>
              <a:rPr lang="zh-TW" altLang="en-US" sz="24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容許度。</a:t>
            </a:r>
            <a:endParaRPr lang="en-US" altLang="zh-TW" sz="2400" dirty="0" smtClean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/>
          <p:cNvSpPr txBox="1"/>
          <p:nvPr/>
        </p:nvSpPr>
        <p:spPr>
          <a:xfrm>
            <a:off x="922432" y="408561"/>
            <a:ext cx="6965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b="1" dirty="0" smtClean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未來還能改進的部分</a:t>
            </a:r>
            <a:endParaRPr lang="en-US" altLang="zh-TW" sz="2800" b="1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43404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單箭頭接點 5"/>
          <p:cNvCxnSpPr/>
          <p:nvPr/>
        </p:nvCxnSpPr>
        <p:spPr bwMode="auto">
          <a:xfrm>
            <a:off x="518747" y="5257800"/>
            <a:ext cx="4615961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/>
          <p:cNvCxnSpPr/>
          <p:nvPr/>
        </p:nvCxnSpPr>
        <p:spPr bwMode="auto">
          <a:xfrm flipH="1" flipV="1">
            <a:off x="518747" y="1371600"/>
            <a:ext cx="8792" cy="390378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橢圓 8"/>
          <p:cNvSpPr/>
          <p:nvPr/>
        </p:nvSpPr>
        <p:spPr bwMode="auto">
          <a:xfrm>
            <a:off x="2645021" y="4392051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bg1"/>
                </a:solidFill>
                <a:latin typeface="Arial" charset="0"/>
                <a:ea typeface="新細明體" charset="-120"/>
              </a:rPr>
              <a:t>6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橢圓 9"/>
          <p:cNvSpPr/>
          <p:nvPr/>
        </p:nvSpPr>
        <p:spPr bwMode="auto">
          <a:xfrm>
            <a:off x="4229100" y="4686303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bg1"/>
                </a:solidFill>
                <a:latin typeface="Arial" charset="0"/>
                <a:ea typeface="新細明體" charset="-120"/>
              </a:rPr>
              <a:t>7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1" name="橢圓 10"/>
          <p:cNvSpPr/>
          <p:nvPr/>
        </p:nvSpPr>
        <p:spPr bwMode="auto">
          <a:xfrm>
            <a:off x="3120356" y="2587869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bg1"/>
                </a:solidFill>
                <a:latin typeface="Arial" charset="0"/>
                <a:ea typeface="新細明體" charset="-120"/>
              </a:rPr>
              <a:t>8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2" name="橢圓 11"/>
          <p:cNvSpPr/>
          <p:nvPr/>
        </p:nvSpPr>
        <p:spPr bwMode="auto">
          <a:xfrm>
            <a:off x="3176223" y="3917329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9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3" name="橢圓 12"/>
          <p:cNvSpPr/>
          <p:nvPr/>
        </p:nvSpPr>
        <p:spPr bwMode="auto">
          <a:xfrm>
            <a:off x="1482311" y="3388937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TW" sz="18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新細明體" charset="-120"/>
              </a:rPr>
              <a:t>1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4" name="橢圓 13"/>
          <p:cNvSpPr/>
          <p:nvPr/>
        </p:nvSpPr>
        <p:spPr bwMode="auto">
          <a:xfrm>
            <a:off x="539172" y="3633393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3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5" name="橢圓 14"/>
          <p:cNvSpPr/>
          <p:nvPr/>
        </p:nvSpPr>
        <p:spPr bwMode="auto">
          <a:xfrm>
            <a:off x="1840433" y="2699559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2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6" name="橢圓 15"/>
          <p:cNvSpPr/>
          <p:nvPr/>
        </p:nvSpPr>
        <p:spPr bwMode="auto">
          <a:xfrm>
            <a:off x="1006718" y="4322271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5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7" name="橢圓 16"/>
          <p:cNvSpPr/>
          <p:nvPr/>
        </p:nvSpPr>
        <p:spPr bwMode="auto">
          <a:xfrm>
            <a:off x="842964" y="2793756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 smtClean="0">
                <a:solidFill>
                  <a:schemeClr val="bg1"/>
                </a:solidFill>
                <a:latin typeface="Arial" charset="0"/>
                <a:ea typeface="新細明體" charset="-120"/>
              </a:rPr>
              <a:t>4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9" name="文字方塊 18"/>
          <p:cNvSpPr txBox="1"/>
          <p:nvPr/>
        </p:nvSpPr>
        <p:spPr>
          <a:xfrm>
            <a:off x="658765" y="1550181"/>
            <a:ext cx="1019908" cy="369332"/>
          </a:xfrm>
          <a:prstGeom prst="rect">
            <a:avLst/>
          </a:prstGeom>
          <a:solidFill>
            <a:srgbClr val="5B9BD5"/>
          </a:solidFill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A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字方塊 19"/>
          <p:cNvSpPr txBox="1"/>
          <p:nvPr/>
        </p:nvSpPr>
        <p:spPr>
          <a:xfrm>
            <a:off x="658765" y="2031819"/>
            <a:ext cx="101990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B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五角星形 21"/>
          <p:cNvSpPr/>
          <p:nvPr/>
        </p:nvSpPr>
        <p:spPr bwMode="auto">
          <a:xfrm>
            <a:off x="2420888" y="3388937"/>
            <a:ext cx="473319" cy="473319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23" name="橢圓 22"/>
          <p:cNvSpPr/>
          <p:nvPr/>
        </p:nvSpPr>
        <p:spPr bwMode="auto">
          <a:xfrm>
            <a:off x="1310054" y="2257600"/>
            <a:ext cx="2787161" cy="2787161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cxnSp>
        <p:nvCxnSpPr>
          <p:cNvPr id="26" name="直線單箭頭接點 25"/>
          <p:cNvCxnSpPr/>
          <p:nvPr/>
        </p:nvCxnSpPr>
        <p:spPr bwMode="auto">
          <a:xfrm flipV="1">
            <a:off x="2789875" y="2974730"/>
            <a:ext cx="330481" cy="43354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sp>
        <p:nvSpPr>
          <p:cNvPr id="29" name="文字方塊 28"/>
          <p:cNvSpPr txBox="1"/>
          <p:nvPr/>
        </p:nvSpPr>
        <p:spPr>
          <a:xfrm>
            <a:off x="2965886" y="3123592"/>
            <a:ext cx="11087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</a:p>
          <a:p>
            <a:r>
              <a:rPr lang="en-US" altLang="zh-TW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  <a:p>
            <a:r>
              <a:rPr lang="en-US" altLang="zh-TW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Warping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字方塊 30"/>
          <p:cNvSpPr txBox="1"/>
          <p:nvPr/>
        </p:nvSpPr>
        <p:spPr>
          <a:xfrm>
            <a:off x="3648641" y="2155556"/>
            <a:ext cx="11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2" name="表格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879084"/>
              </p:ext>
            </p:extLst>
          </p:nvPr>
        </p:nvGraphicFramePr>
        <p:xfrm>
          <a:off x="5317519" y="2031068"/>
          <a:ext cx="4508217" cy="324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0913">
                  <a:extLst>
                    <a:ext uri="{9D8B030D-6E8A-4147-A177-3AD203B41FA5}">
                      <a16:colId xmlns:a16="http://schemas.microsoft.com/office/drawing/2014/main" val="2473427622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730421548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2120939769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3910732909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2221906460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3816754043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3822202769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1620875245"/>
                    </a:ext>
                  </a:extLst>
                </a:gridCol>
                <a:gridCol w="500913">
                  <a:extLst>
                    <a:ext uri="{9D8B030D-6E8A-4147-A177-3AD203B41FA5}">
                      <a16:colId xmlns:a16="http://schemas.microsoft.com/office/drawing/2014/main" val="4072847865"/>
                    </a:ext>
                  </a:extLst>
                </a:gridCol>
              </a:tblGrid>
              <a:tr h="359508">
                <a:tc gridSpan="2">
                  <a:txBody>
                    <a:bodyPr/>
                    <a:lstStyle/>
                    <a:p>
                      <a:pPr algn="ctr"/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lnL w="12700" cmpd="sng">
                      <a:noFill/>
                    </a:lnL>
                    <a:lnT w="12700" cmpd="sng">
                      <a:noFill/>
                    </a:lnT>
                    <a:lnB w="12700" cmpd="sng"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>
                    <a:lnT w="12700" cmpd="sng">
                      <a:noFill/>
                    </a:lnT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Signal 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BE5D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extLst>
                  <a:ext uri="{0D108BD9-81ED-4DB2-BD59-A6C34878D82A}">
                    <a16:rowId xmlns:a16="http://schemas.microsoft.com/office/drawing/2014/main" val="421158920"/>
                  </a:ext>
                </a:extLst>
              </a:tr>
              <a:tr h="359508">
                <a:tc>
                  <a:txBody>
                    <a:bodyPr/>
                    <a:lstStyle/>
                    <a:p>
                      <a:pPr algn="ctr"/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lnL w="12700" cmpd="sng">
                      <a:noFill/>
                    </a:lnL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</a:t>
                      </a:r>
                      <a:endParaRPr lang="zh-TW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72366"/>
                  </a:ext>
                </a:extLst>
              </a:tr>
              <a:tr h="359508">
                <a:tc rowSpan="7">
                  <a:txBody>
                    <a:bodyPr/>
                    <a:lstStyle/>
                    <a:p>
                      <a:pPr marL="0" marR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Signal 2</a:t>
                      </a:r>
                      <a:endParaRPr lang="zh-TW" altLang="en-US" sz="1900" dirty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vert="eaVert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extLst>
                  <a:ext uri="{0D108BD9-81ED-4DB2-BD59-A6C34878D82A}">
                    <a16:rowId xmlns:a16="http://schemas.microsoft.com/office/drawing/2014/main" val="1125413430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extLst>
                  <a:ext uri="{0D108BD9-81ED-4DB2-BD59-A6C34878D82A}">
                    <a16:rowId xmlns:a16="http://schemas.microsoft.com/office/drawing/2014/main" val="1546569682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extLst>
                  <a:ext uri="{0D108BD9-81ED-4DB2-BD59-A6C34878D82A}">
                    <a16:rowId xmlns:a16="http://schemas.microsoft.com/office/drawing/2014/main" val="3188449648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extLst>
                  <a:ext uri="{0D108BD9-81ED-4DB2-BD59-A6C34878D82A}">
                    <a16:rowId xmlns:a16="http://schemas.microsoft.com/office/drawing/2014/main" val="832709543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extLst>
                  <a:ext uri="{0D108BD9-81ED-4DB2-BD59-A6C34878D82A}">
                    <a16:rowId xmlns:a16="http://schemas.microsoft.com/office/drawing/2014/main" val="3529691877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440442"/>
                  </a:ext>
                </a:extLst>
              </a:tr>
              <a:tr h="359508">
                <a:tc vMerge="1">
                  <a:txBody>
                    <a:bodyPr/>
                    <a:lstStyle/>
                    <a:p>
                      <a:pPr algn="ctr"/>
                      <a:endParaRPr lang="zh-TW" altLang="en-US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563" marR="61563" marT="30781" marB="3078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9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</a:t>
                      </a:r>
                      <a:endParaRPr lang="zh-TW" altLang="en-US" sz="1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0921" marR="70921" marT="35460" marB="3546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456141"/>
                  </a:ext>
                </a:extLst>
              </a:tr>
            </a:tbl>
          </a:graphicData>
        </a:graphic>
      </p:graphicFrame>
      <p:sp>
        <p:nvSpPr>
          <p:cNvPr id="33" name="文字方塊 32"/>
          <p:cNvSpPr txBox="1"/>
          <p:nvPr/>
        </p:nvSpPr>
        <p:spPr>
          <a:xfrm>
            <a:off x="658765" y="1053285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 Nearest Neighbors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文字方塊 33"/>
          <p:cNvSpPr txBox="1"/>
          <p:nvPr/>
        </p:nvSpPr>
        <p:spPr>
          <a:xfrm>
            <a:off x="5280886" y="1056831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Time Warping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線單箭頭接點 37"/>
          <p:cNvCxnSpPr/>
          <p:nvPr/>
        </p:nvCxnSpPr>
        <p:spPr bwMode="auto">
          <a:xfrm flipV="1">
            <a:off x="3648641" y="2880533"/>
            <a:ext cx="1486067" cy="18097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957360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圖片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408" y="5966579"/>
            <a:ext cx="7024960" cy="2716669"/>
          </a:xfrm>
          <a:prstGeom prst="rect">
            <a:avLst/>
          </a:prstGeom>
        </p:spPr>
      </p:pic>
      <p:cxnSp>
        <p:nvCxnSpPr>
          <p:cNvPr id="5" name="直線單箭頭接點 4"/>
          <p:cNvCxnSpPr/>
          <p:nvPr/>
        </p:nvCxnSpPr>
        <p:spPr bwMode="auto">
          <a:xfrm>
            <a:off x="518747" y="5257800"/>
            <a:ext cx="4615961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6" name="直線單箭頭接點 5"/>
          <p:cNvCxnSpPr/>
          <p:nvPr/>
        </p:nvCxnSpPr>
        <p:spPr bwMode="auto">
          <a:xfrm flipH="1" flipV="1">
            <a:off x="518747" y="1371600"/>
            <a:ext cx="8792" cy="390378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7" name="橢圓 6"/>
          <p:cNvSpPr/>
          <p:nvPr/>
        </p:nvSpPr>
        <p:spPr bwMode="auto">
          <a:xfrm>
            <a:off x="2305517" y="4084713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3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8" name="橢圓 7"/>
          <p:cNvSpPr/>
          <p:nvPr/>
        </p:nvSpPr>
        <p:spPr bwMode="auto">
          <a:xfrm>
            <a:off x="3603440" y="3565224"/>
            <a:ext cx="386861" cy="386861"/>
          </a:xfrm>
          <a:prstGeom prst="ellips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1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9" name="橢圓 8"/>
          <p:cNvSpPr/>
          <p:nvPr/>
        </p:nvSpPr>
        <p:spPr bwMode="auto">
          <a:xfrm>
            <a:off x="3357383" y="2977189"/>
            <a:ext cx="386861" cy="386861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4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橢圓 9"/>
          <p:cNvSpPr/>
          <p:nvPr/>
        </p:nvSpPr>
        <p:spPr bwMode="auto">
          <a:xfrm>
            <a:off x="2811629" y="4189058"/>
            <a:ext cx="386861" cy="386861"/>
          </a:xfrm>
          <a:prstGeom prst="ellipse">
            <a:avLst/>
          </a:prstGeom>
          <a:solidFill>
            <a:srgbClr val="5B9BD5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2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1" name="橢圓 10"/>
          <p:cNvSpPr/>
          <p:nvPr/>
        </p:nvSpPr>
        <p:spPr bwMode="auto">
          <a:xfrm>
            <a:off x="768271" y="2864640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6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2" name="橢圓 11"/>
          <p:cNvSpPr/>
          <p:nvPr/>
        </p:nvSpPr>
        <p:spPr bwMode="auto">
          <a:xfrm>
            <a:off x="613995" y="3639752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9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3" name="橢圓 12"/>
          <p:cNvSpPr/>
          <p:nvPr/>
        </p:nvSpPr>
        <p:spPr bwMode="auto">
          <a:xfrm>
            <a:off x="2783500" y="2857503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5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4" name="橢圓 13"/>
          <p:cNvSpPr/>
          <p:nvPr/>
        </p:nvSpPr>
        <p:spPr bwMode="auto">
          <a:xfrm>
            <a:off x="1114441" y="4382489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8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5" name="橢圓 14"/>
          <p:cNvSpPr/>
          <p:nvPr/>
        </p:nvSpPr>
        <p:spPr bwMode="auto">
          <a:xfrm>
            <a:off x="1547101" y="2464825"/>
            <a:ext cx="392723" cy="361949"/>
          </a:xfrm>
          <a:prstGeom prst="ellipse">
            <a:avLst/>
          </a:prstGeom>
          <a:solidFill>
            <a:srgbClr val="FFC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TW" dirty="0">
                <a:solidFill>
                  <a:schemeClr val="bg1"/>
                </a:solidFill>
                <a:latin typeface="Arial" charset="0"/>
                <a:ea typeface="新細明體" charset="-120"/>
              </a:rPr>
              <a:t>7</a:t>
            </a:r>
            <a:endParaRPr kumimoji="0" lang="zh-TW" altLang="en-US" sz="18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6" name="文字方塊 15"/>
          <p:cNvSpPr txBox="1"/>
          <p:nvPr/>
        </p:nvSpPr>
        <p:spPr>
          <a:xfrm>
            <a:off x="658765" y="1550181"/>
            <a:ext cx="1019908" cy="369332"/>
          </a:xfrm>
          <a:prstGeom prst="rect">
            <a:avLst/>
          </a:prstGeom>
          <a:solidFill>
            <a:srgbClr val="5B9BD5"/>
          </a:solidFill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A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字方塊 16"/>
          <p:cNvSpPr txBox="1"/>
          <p:nvPr/>
        </p:nvSpPr>
        <p:spPr>
          <a:xfrm>
            <a:off x="658765" y="2031819"/>
            <a:ext cx="101990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B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五角星形 17"/>
          <p:cNvSpPr/>
          <p:nvPr/>
        </p:nvSpPr>
        <p:spPr bwMode="auto">
          <a:xfrm>
            <a:off x="2420888" y="3388937"/>
            <a:ext cx="473319" cy="473319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9" name="橢圓 18"/>
          <p:cNvSpPr/>
          <p:nvPr/>
        </p:nvSpPr>
        <p:spPr bwMode="auto">
          <a:xfrm>
            <a:off x="2060864" y="2464825"/>
            <a:ext cx="2682914" cy="2709156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22" name="文字方塊 21"/>
          <p:cNvSpPr txBox="1"/>
          <p:nvPr/>
        </p:nvSpPr>
        <p:spPr>
          <a:xfrm>
            <a:off x="3648641" y="2155556"/>
            <a:ext cx="11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字方塊 23"/>
          <p:cNvSpPr txBox="1"/>
          <p:nvPr/>
        </p:nvSpPr>
        <p:spPr>
          <a:xfrm>
            <a:off x="658765" y="1053285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 Nearest Neighbors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字方塊 24"/>
          <p:cNvSpPr txBox="1"/>
          <p:nvPr/>
        </p:nvSpPr>
        <p:spPr>
          <a:xfrm>
            <a:off x="4885371" y="1064914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Time Warping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文字方塊 27"/>
          <p:cNvSpPr txBox="1"/>
          <p:nvPr/>
        </p:nvSpPr>
        <p:spPr>
          <a:xfrm>
            <a:off x="3496006" y="3992100"/>
            <a:ext cx="1108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Thresholds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文字方塊 32"/>
          <p:cNvSpPr txBox="1"/>
          <p:nvPr/>
        </p:nvSpPr>
        <p:spPr>
          <a:xfrm>
            <a:off x="1189963" y="3285485"/>
            <a:ext cx="10607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Dynamic Time Warping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線單箭頭接點 34"/>
          <p:cNvCxnSpPr>
            <a:stCxn id="11" idx="6"/>
            <a:endCxn id="18" idx="1"/>
          </p:cNvCxnSpPr>
          <p:nvPr/>
        </p:nvCxnSpPr>
        <p:spPr bwMode="auto">
          <a:xfrm>
            <a:off x="1160994" y="3045615"/>
            <a:ext cx="1259895" cy="52411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triangle"/>
            <a:tailEnd type="triangle"/>
          </a:ln>
          <a:effectLst/>
        </p:spPr>
      </p:cxnSp>
      <p:sp>
        <p:nvSpPr>
          <p:cNvPr id="61" name="文字方塊 60"/>
          <p:cNvSpPr txBox="1"/>
          <p:nvPr/>
        </p:nvSpPr>
        <p:spPr>
          <a:xfrm>
            <a:off x="1997952" y="5597247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 K Nearest Neighbors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文字方塊 61"/>
          <p:cNvSpPr txBox="1"/>
          <p:nvPr/>
        </p:nvSpPr>
        <p:spPr>
          <a:xfrm>
            <a:off x="4985618" y="5597247"/>
            <a:ext cx="3138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 Dynamic Time Warping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線單箭頭接點 25"/>
          <p:cNvCxnSpPr/>
          <p:nvPr/>
        </p:nvCxnSpPr>
        <p:spPr bwMode="auto">
          <a:xfrm flipV="1">
            <a:off x="4181032" y="7205193"/>
            <a:ext cx="1770188" cy="47576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65" name="圖片 6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233" y="6130455"/>
            <a:ext cx="3002175" cy="2552793"/>
          </a:xfrm>
          <a:prstGeom prst="rect">
            <a:avLst/>
          </a:prstGeom>
        </p:spPr>
      </p:pic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938" y="1419949"/>
            <a:ext cx="6811455" cy="2634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964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5050971"/>
                  </p:ext>
                </p:extLst>
              </p:nvPr>
            </p:nvGraphicFramePr>
            <p:xfrm>
              <a:off x="405112" y="1072428"/>
              <a:ext cx="5577879" cy="387346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0246">
                      <a:extLst>
                        <a:ext uri="{9D8B030D-6E8A-4147-A177-3AD203B41FA5}">
                          <a16:colId xmlns:a16="http://schemas.microsoft.com/office/drawing/2014/main" val="2473427622"/>
                        </a:ext>
                      </a:extLst>
                    </a:gridCol>
                    <a:gridCol w="652331">
                      <a:extLst>
                        <a:ext uri="{9D8B030D-6E8A-4147-A177-3AD203B41FA5}">
                          <a16:colId xmlns:a16="http://schemas.microsoft.com/office/drawing/2014/main" val="730421548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2120939769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3910732909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2221906460"/>
                        </a:ext>
                      </a:extLst>
                    </a:gridCol>
                  </a:tblGrid>
                  <a:tr h="344567">
                    <a:tc gridSpan="2">
                      <a:txBody>
                        <a:bodyPr/>
                        <a:lstStyle/>
                        <a:p>
                          <a:pPr algn="ctr"/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lnL w="12700" cmpd="sng">
                          <a:noFill/>
                        </a:lnL>
                        <a:lnT w="12700" cmpd="sng">
                          <a:noFill/>
                        </a:lnT>
                        <a:lnB w="12700" cmpd="sng"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>
                        <a:lnT w="12700" cmpd="sng">
                          <a:noFill/>
                        </a:lnT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22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</a:t>
                          </a:r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FBE5D6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extLst>
                      <a:ext uri="{0D108BD9-81ED-4DB2-BD59-A6C34878D82A}">
                        <a16:rowId xmlns:a16="http://schemas.microsoft.com/office/drawing/2014/main" val="421158920"/>
                      </a:ext>
                    </a:extLst>
                  </a:tr>
                  <a:tr h="418302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lnL w="12700" cmpd="sng">
                          <a:noFill/>
                        </a:lnL>
                        <a:lnT w="12700" cmpd="sng">
                          <a:noFill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6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frame</a:t>
                          </a:r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3672366"/>
                      </a:ext>
                    </a:extLst>
                  </a:tr>
                  <a:tr h="418302">
                    <a:tc rowSpan="4">
                      <a:txBody>
                        <a:bodyPr/>
                        <a:lstStyle/>
                        <a:p>
                          <a:pPr marL="0" marR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2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K1</a:t>
                          </a:r>
                          <a:endParaRPr lang="zh-TW" altLang="en-US" sz="2200" dirty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vert="eaVert" anchor="ctr">
                        <a:solidFill>
                          <a:srgbClr val="FBE5D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altLang="zh-TW" sz="20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  <m:sSub>
                                  <m:sSubPr>
                                    <m:ctrlP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lang="en-US" altLang="zh-TW" sz="1400" dirty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TW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TW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lang="en-US" altLang="zh-TW" sz="1400" dirty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extLst>
                      <a:ext uri="{0D108BD9-81ED-4DB2-BD59-A6C34878D82A}">
                        <a16:rowId xmlns:a16="http://schemas.microsoft.com/office/drawing/2014/main" val="1125413430"/>
                      </a:ext>
                    </a:extLst>
                  </a:tr>
                  <a:tr h="41830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46569682"/>
                      </a:ext>
                    </a:extLst>
                  </a:tr>
                  <a:tr h="41830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extLst>
                      <a:ext uri="{0D108BD9-81ED-4DB2-BD59-A6C34878D82A}">
                        <a16:rowId xmlns:a16="http://schemas.microsoft.com/office/drawing/2014/main" val="3188449648"/>
                      </a:ext>
                    </a:extLst>
                  </a:tr>
                  <a:tr h="41830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D0CEC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41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42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41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2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43</m:t>
                                    </m:r>
                                  </m:sub>
                                </m:sSub>
                                <m:r>
                                  <a:rPr kumimoji="0" lang="en-US" altLang="zh-TW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</m:oMath>
                            </m:oMathPara>
                          </a14:m>
                          <a:endParaRPr kumimoji="0" lang="en-US" altLang="zh-TW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0" lang="en-US" altLang="zh-TW" sz="1400" b="0" i="0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min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⁡(</m:t>
                                    </m:r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42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altLang="zh-TW" sz="1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marL="0" marR="0" lvl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+||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en-US" altLang="zh-TW" sz="1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kumimoji="0" lang="en-US" altLang="zh-TW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||</m:t>
                                </m:r>
                              </m:oMath>
                            </m:oMathPara>
                          </a14:m>
                          <a:endParaRPr kumimoji="0" lang="en-US" altLang="zh-TW" sz="1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extLst>
                      <a:ext uri="{0D108BD9-81ED-4DB2-BD59-A6C34878D82A}">
                        <a16:rowId xmlns:a16="http://schemas.microsoft.com/office/drawing/2014/main" val="8327095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5050971"/>
                  </p:ext>
                </p:extLst>
              </p:nvPr>
            </p:nvGraphicFramePr>
            <p:xfrm>
              <a:off x="405112" y="1072428"/>
              <a:ext cx="5577879" cy="387346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0246">
                      <a:extLst>
                        <a:ext uri="{9D8B030D-6E8A-4147-A177-3AD203B41FA5}">
                          <a16:colId xmlns:a16="http://schemas.microsoft.com/office/drawing/2014/main" val="2473427622"/>
                        </a:ext>
                      </a:extLst>
                    </a:gridCol>
                    <a:gridCol w="652331">
                      <a:extLst>
                        <a:ext uri="{9D8B030D-6E8A-4147-A177-3AD203B41FA5}">
                          <a16:colId xmlns:a16="http://schemas.microsoft.com/office/drawing/2014/main" val="730421548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2120939769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3910732909"/>
                        </a:ext>
                      </a:extLst>
                    </a:gridCol>
                    <a:gridCol w="1438434">
                      <a:extLst>
                        <a:ext uri="{9D8B030D-6E8A-4147-A177-3AD203B41FA5}">
                          <a16:colId xmlns:a16="http://schemas.microsoft.com/office/drawing/2014/main" val="2221906460"/>
                        </a:ext>
                      </a:extLst>
                    </a:gridCol>
                  </a:tblGrid>
                  <a:tr h="416712">
                    <a:tc gridSpan="2">
                      <a:txBody>
                        <a:bodyPr/>
                        <a:lstStyle/>
                        <a:p>
                          <a:pPr algn="ctr"/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lnL w="12700" cmpd="sng">
                          <a:noFill/>
                        </a:lnL>
                        <a:lnT w="12700" cmpd="sng">
                          <a:noFill/>
                        </a:lnT>
                        <a:lnB w="12700" cmpd="sng">
                          <a:noFill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>
                        <a:lnT w="12700" cmpd="sng">
                          <a:noFill/>
                        </a:lnT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22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</a:t>
                          </a:r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solidFill>
                          <a:srgbClr val="FBE5D6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extLst>
                      <a:ext uri="{0D108BD9-81ED-4DB2-BD59-A6C34878D82A}">
                        <a16:rowId xmlns:a16="http://schemas.microsoft.com/office/drawing/2014/main" val="421158920"/>
                      </a:ext>
                    </a:extLst>
                  </a:tr>
                  <a:tr h="418302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>
                        <a:lnL w="12700" cmpd="sng">
                          <a:noFill/>
                        </a:lnL>
                        <a:lnT w="12700" cmpd="sng">
                          <a:noFill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6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frame</a:t>
                          </a:r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89451" t="-111765" r="-200000" b="-742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190254" t="-111765" r="-100847" b="-742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290254" t="-111765" r="-847" b="-7426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3672366"/>
                      </a:ext>
                    </a:extLst>
                  </a:tr>
                  <a:tr h="599592">
                    <a:tc rowSpan="4">
                      <a:txBody>
                        <a:bodyPr/>
                        <a:lstStyle/>
                        <a:p>
                          <a:pPr marL="0" marR="0" indent="0" algn="ctr" defTabSz="121917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2200" dirty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K1</a:t>
                          </a:r>
                          <a:endParaRPr lang="zh-TW" altLang="en-US" sz="2200" dirty="0" smtClean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1433" marR="81433" marT="40716" marB="40716" vert="eaVert" anchor="ctr">
                        <a:solidFill>
                          <a:srgbClr val="FBE5D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98131" t="-145455" r="-664486" b="-4101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89451" t="-145455" r="-200000" b="-4101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190254" t="-145455" r="-100847" b="-41010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290254" t="-145455" r="-847" b="-41010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5413430"/>
                      </a:ext>
                    </a:extLst>
                  </a:tr>
                  <a:tr h="81295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98131" t="-181343" r="-664486" b="-2029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89451" t="-181343" r="-200000" b="-2029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190254" t="-181343" r="-100847" b="-2029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290254" t="-181343" r="-847" b="-2029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6569682"/>
                      </a:ext>
                    </a:extLst>
                  </a:tr>
                  <a:tr h="81295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98131" t="-283459" r="-664486" b="-1045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89451" t="-283459" r="-200000" b="-1045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190254" t="-283459" r="-100847" b="-1045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290254" t="-283459" r="-847" b="-1045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8449648"/>
                      </a:ext>
                    </a:extLst>
                  </a:tr>
                  <a:tr h="812952">
                    <a:tc vMerge="1">
                      <a:txBody>
                        <a:bodyPr/>
                        <a:lstStyle/>
                        <a:p>
                          <a:pPr algn="ctr"/>
                          <a:endParaRPr lang="zh-TW" altLang="en-US" sz="16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1563" marR="61563" marT="30781" marB="30781"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98131" t="-380597" r="-664486" b="-3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89451" t="-380597" r="-200000" b="-3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190254" t="-380597" r="-100847" b="-37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81433" marR="81433" marT="40716" marB="40716" anchor="ctr">
                        <a:blipFill>
                          <a:blip r:embed="rId4"/>
                          <a:stretch>
                            <a:fillRect l="-290254" t="-380597" r="-847" b="-37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270954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128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方塊 10"/>
          <p:cNvSpPr txBox="1"/>
          <p:nvPr/>
        </p:nvSpPr>
        <p:spPr>
          <a:xfrm>
            <a:off x="178960" y="3449676"/>
            <a:ext cx="5008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 MF 128 Scales [100 4000]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字方塊 11"/>
          <p:cNvSpPr txBox="1"/>
          <p:nvPr/>
        </p:nvSpPr>
        <p:spPr>
          <a:xfrm>
            <a:off x="4768911" y="3456123"/>
            <a:ext cx="5008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 IMF 19 Scales [4000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000]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/>
          <p:cNvSpPr txBox="1"/>
          <p:nvPr/>
        </p:nvSpPr>
        <p:spPr>
          <a:xfrm>
            <a:off x="9777412" y="3456123"/>
            <a:ext cx="420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MF 147 Scales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4" r="5844"/>
          <a:stretch/>
        </p:blipFill>
        <p:spPr bwMode="auto">
          <a:xfrm>
            <a:off x="6090749" y="1124194"/>
            <a:ext cx="4927610" cy="224326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圖片 4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74" r="6488"/>
          <a:stretch/>
        </p:blipFill>
        <p:spPr bwMode="auto">
          <a:xfrm>
            <a:off x="1053392" y="1124194"/>
            <a:ext cx="4933656" cy="224326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文字方塊 5"/>
          <p:cNvSpPr txBox="1"/>
          <p:nvPr/>
        </p:nvSpPr>
        <p:spPr>
          <a:xfrm>
            <a:off x="1053392" y="896814"/>
            <a:ext cx="5037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Mel Frequency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字方塊 6"/>
          <p:cNvSpPr txBox="1"/>
          <p:nvPr/>
        </p:nvSpPr>
        <p:spPr>
          <a:xfrm>
            <a:off x="6090749" y="896814"/>
            <a:ext cx="5037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Inverse Mel Frequency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4"/>
          <a:srcRect t="6414"/>
          <a:stretch/>
        </p:blipFill>
        <p:spPr>
          <a:xfrm>
            <a:off x="178960" y="3812561"/>
            <a:ext cx="5008501" cy="3511356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 rotWithShape="1">
          <a:blip r:embed="rId5"/>
          <a:srcRect t="6335"/>
          <a:stretch/>
        </p:blipFill>
        <p:spPr>
          <a:xfrm>
            <a:off x="4768911" y="3819008"/>
            <a:ext cx="5008501" cy="3514300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 rotWithShape="1">
          <a:blip r:embed="rId6"/>
          <a:srcRect t="5883"/>
          <a:stretch/>
        </p:blipFill>
        <p:spPr>
          <a:xfrm>
            <a:off x="9358862" y="3809049"/>
            <a:ext cx="5008501" cy="3531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552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129153" y="1611528"/>
            <a:ext cx="5008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 MF 128 Scales [100 4000]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字方塊 5"/>
          <p:cNvSpPr txBox="1"/>
          <p:nvPr/>
        </p:nvSpPr>
        <p:spPr>
          <a:xfrm>
            <a:off x="4644249" y="1616126"/>
            <a:ext cx="4587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MF 128 Scales [100 </a:t>
            </a:r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8000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 rotWithShape="1">
          <a:blip r:embed="rId2"/>
          <a:srcRect t="6414"/>
          <a:stretch/>
        </p:blipFill>
        <p:spPr>
          <a:xfrm>
            <a:off x="-4458739" y="0"/>
            <a:ext cx="5008501" cy="3511356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 rotWithShape="1">
          <a:blip r:embed="rId3"/>
          <a:srcRect t="5883"/>
          <a:stretch/>
        </p:blipFill>
        <p:spPr>
          <a:xfrm>
            <a:off x="-6926592" y="3671856"/>
            <a:ext cx="5008501" cy="3531274"/>
          </a:xfrm>
          <a:prstGeom prst="rect">
            <a:avLst/>
          </a:prstGeom>
        </p:spPr>
      </p:pic>
      <p:pic>
        <p:nvPicPr>
          <p:cNvPr id="13" name="圖片 12"/>
          <p:cNvPicPr>
            <a:picLocks noChangeAspect="1"/>
          </p:cNvPicPr>
          <p:nvPr/>
        </p:nvPicPr>
        <p:blipFill rotWithShape="1">
          <a:blip r:embed="rId4"/>
          <a:srcRect t="6353"/>
          <a:stretch/>
        </p:blipFill>
        <p:spPr>
          <a:xfrm>
            <a:off x="9232141" y="2063751"/>
            <a:ext cx="5008501" cy="3513654"/>
          </a:xfrm>
          <a:prstGeom prst="rect">
            <a:avLst/>
          </a:prstGeom>
        </p:spPr>
      </p:pic>
      <p:pic>
        <p:nvPicPr>
          <p:cNvPr id="15" name="圖片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153" y="1796194"/>
            <a:ext cx="5008501" cy="3752000"/>
          </a:xfrm>
          <a:prstGeom prst="rect">
            <a:avLst/>
          </a:prstGeom>
        </p:spPr>
      </p:pic>
      <p:sp>
        <p:nvSpPr>
          <p:cNvPr id="16" name="文字方塊 15"/>
          <p:cNvSpPr txBox="1"/>
          <p:nvPr/>
        </p:nvSpPr>
        <p:spPr>
          <a:xfrm>
            <a:off x="9232141" y="1640739"/>
            <a:ext cx="4934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Spectrogram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Strolling</a:t>
            </a:r>
          </a:p>
        </p:txBody>
      </p:sp>
      <p:pic>
        <p:nvPicPr>
          <p:cNvPr id="17" name="圖片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4250" y="1796194"/>
            <a:ext cx="5007600" cy="3751325"/>
          </a:xfrm>
          <a:prstGeom prst="rect">
            <a:avLst/>
          </a:prstGeom>
        </p:spPr>
      </p:pic>
      <p:pic>
        <p:nvPicPr>
          <p:cNvPr id="18" name="圖片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5329" y="6262374"/>
            <a:ext cx="2745732" cy="1929600"/>
          </a:xfrm>
          <a:prstGeom prst="rect">
            <a:avLst/>
          </a:prstGeom>
        </p:spPr>
      </p:pic>
      <p:sp>
        <p:nvSpPr>
          <p:cNvPr id="19" name="文字方塊 18"/>
          <p:cNvSpPr txBox="1"/>
          <p:nvPr/>
        </p:nvSpPr>
        <p:spPr>
          <a:xfrm>
            <a:off x="5579737" y="6038120"/>
            <a:ext cx="27457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MF 128 Scales [100 </a:t>
            </a:r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8000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05189" y="6262374"/>
            <a:ext cx="2745732" cy="1929600"/>
          </a:xfrm>
          <a:prstGeom prst="rect">
            <a:avLst/>
          </a:prstGeom>
        </p:spPr>
      </p:pic>
      <p:sp>
        <p:nvSpPr>
          <p:cNvPr id="21" name="文字方塊 20"/>
          <p:cNvSpPr txBox="1"/>
          <p:nvPr/>
        </p:nvSpPr>
        <p:spPr>
          <a:xfrm>
            <a:off x="2816119" y="6038120"/>
            <a:ext cx="27457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MF 128 Scales [100 4</a:t>
            </a:r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000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圖片 21"/>
          <p:cNvPicPr>
            <a:picLocks noChangeAspect="1"/>
          </p:cNvPicPr>
          <p:nvPr/>
        </p:nvPicPr>
        <p:blipFill rotWithShape="1">
          <a:blip r:embed="rId9"/>
          <a:srcRect t="8567"/>
          <a:stretch/>
        </p:blipFill>
        <p:spPr>
          <a:xfrm>
            <a:off x="244708" y="6388100"/>
            <a:ext cx="2763619" cy="1764286"/>
          </a:xfrm>
          <a:prstGeom prst="rect">
            <a:avLst/>
          </a:prstGeom>
        </p:spPr>
      </p:pic>
      <p:sp>
        <p:nvSpPr>
          <p:cNvPr id="23" name="文字方塊 22"/>
          <p:cNvSpPr txBox="1"/>
          <p:nvPr/>
        </p:nvSpPr>
        <p:spPr>
          <a:xfrm>
            <a:off x="152330" y="6038120"/>
            <a:ext cx="2752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Spectrogram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Strolling</a:t>
            </a:r>
          </a:p>
        </p:txBody>
      </p:sp>
    </p:spTree>
    <p:extLst>
      <p:ext uri="{BB962C8B-B14F-4D97-AF65-F5344CB8AC3E}">
        <p14:creationId xmlns:p14="http://schemas.microsoft.com/office/powerpoint/2010/main" val="2986312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/>
          <p:cNvSpPr txBox="1"/>
          <p:nvPr/>
        </p:nvSpPr>
        <p:spPr>
          <a:xfrm>
            <a:off x="1637821" y="1357028"/>
            <a:ext cx="4078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(a)Triangular </a:t>
            </a:r>
            <a:r>
              <a:rPr lang="en-US" altLang="zh-TW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filterbank</a:t>
            </a:r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structure of MFCC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字方塊 9"/>
          <p:cNvSpPr txBox="1"/>
          <p:nvPr/>
        </p:nvSpPr>
        <p:spPr>
          <a:xfrm>
            <a:off x="5716171" y="1357028"/>
            <a:ext cx="4078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(b)Triangular </a:t>
            </a:r>
            <a:r>
              <a:rPr lang="en-US" altLang="zh-TW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filterbank</a:t>
            </a:r>
            <a:r>
              <a:rPr lang="en-US" altLang="zh-TW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structure of IMFCC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821" y="1695582"/>
            <a:ext cx="4094269" cy="1592067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615" y="1695582"/>
            <a:ext cx="4084725" cy="157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095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289" y="3889252"/>
            <a:ext cx="4246969" cy="1620667"/>
          </a:xfrm>
          <a:prstGeom prst="rect">
            <a:avLst/>
          </a:prstGeom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833" y="2268585"/>
            <a:ext cx="4237425" cy="1620667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920" y="638385"/>
            <a:ext cx="4218338" cy="1630200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628" y="1162718"/>
            <a:ext cx="4218338" cy="2726534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 bwMode="auto">
          <a:xfrm>
            <a:off x="2485505" y="1388225"/>
            <a:ext cx="473827" cy="20781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2" name="矩形 11"/>
          <p:cNvSpPr/>
          <p:nvPr/>
        </p:nvSpPr>
        <p:spPr bwMode="auto">
          <a:xfrm>
            <a:off x="1698567" y="1388225"/>
            <a:ext cx="786938" cy="20781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3" name="矩形 12"/>
          <p:cNvSpPr/>
          <p:nvPr/>
        </p:nvSpPr>
        <p:spPr bwMode="auto">
          <a:xfrm>
            <a:off x="2959332" y="1388225"/>
            <a:ext cx="1296784" cy="20781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4" name="文字方塊 13"/>
          <p:cNvSpPr txBox="1"/>
          <p:nvPr/>
        </p:nvSpPr>
        <p:spPr>
          <a:xfrm>
            <a:off x="2961792" y="1529542"/>
            <a:ext cx="1360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voiced </a:t>
            </a:r>
            <a:r>
              <a:rPr lang="en-US" altLang="zh-TW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sound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760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istron2016Template(16b9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Default Design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170907嘉欣 NTUT Progress Report" id="{BAF8D164-B2ED-7D45-99AF-B474CEEEDE1D}" vid="{4E9B1D56-B1FE-EA41-81A4-87662840C32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20170907嘉欣 NTUT Progress Report</Template>
  <TotalTime>17350</TotalTime>
  <Words>466</Words>
  <Application>Microsoft Office PowerPoint</Application>
  <PresentationFormat>寬螢幕</PresentationFormat>
  <Paragraphs>205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8" baseType="lpstr">
      <vt:lpstr>微軟正黑體</vt:lpstr>
      <vt:lpstr>新細明體</vt:lpstr>
      <vt:lpstr>標楷體</vt:lpstr>
      <vt:lpstr>Arial</vt:lpstr>
      <vt:lpstr>Calibri</vt:lpstr>
      <vt:lpstr>Cambria Math</vt:lpstr>
      <vt:lpstr>Times New Roman</vt:lpstr>
      <vt:lpstr>Wistron2016Template(16b9)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Chia-Chun</dc:creator>
  <cp:lastModifiedBy>Windows 使用者</cp:lastModifiedBy>
  <cp:revision>192</cp:revision>
  <cp:lastPrinted>2017-10-31T09:15:26Z</cp:lastPrinted>
  <dcterms:created xsi:type="dcterms:W3CDTF">2017-09-07T11:55:25Z</dcterms:created>
  <dcterms:modified xsi:type="dcterms:W3CDTF">2018-10-29T07:17:05Z</dcterms:modified>
</cp:coreProperties>
</file>